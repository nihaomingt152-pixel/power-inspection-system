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99" y="0"/>
            <a:ext cx="10124603" cy="8229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899538" y="1924172"/>
            <a:ext cx="426750" cy="1527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13335" y="1794601"/>
            <a:ext cx="46036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360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电力输电线路智能巡检平台 · V3.0</a:t>
            </a:r>
            <a:endParaRPr lang="en-US" sz="1584" dirty="0"/>
          </a:p>
        </p:txBody>
      </p:sp>
      <p:sp>
        <p:nvSpPr>
          <p:cNvPr id="8" name="Shape 4"/>
          <p:cNvSpPr/>
          <p:nvPr/>
        </p:nvSpPr>
        <p:spPr>
          <a:xfrm>
            <a:off x="9304111" y="1924172"/>
            <a:ext cx="426750" cy="1527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032205" y="2260535"/>
            <a:ext cx="2565898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12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输电线路</a:t>
            </a:r>
            <a:endParaRPr lang="en-US" sz="4920" dirty="0"/>
          </a:p>
        </p:txBody>
      </p:sp>
      <p:sp>
        <p:nvSpPr>
          <p:cNvPr id="10" name="Text 6"/>
          <p:cNvSpPr/>
          <p:nvPr/>
        </p:nvSpPr>
        <p:spPr>
          <a:xfrm>
            <a:off x="5413614" y="2947798"/>
            <a:ext cx="3803081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12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智能巡检平台</a:t>
            </a:r>
            <a:endParaRPr lang="en-US" sz="4920" dirty="0"/>
          </a:p>
        </p:txBody>
      </p:sp>
      <p:sp>
        <p:nvSpPr>
          <p:cNvPr id="11" name="Shape 7"/>
          <p:cNvSpPr/>
          <p:nvPr/>
        </p:nvSpPr>
        <p:spPr>
          <a:xfrm>
            <a:off x="5943600" y="4022537"/>
            <a:ext cx="2743200" cy="15270"/>
          </a:xfrm>
          <a:prstGeom prst="rect">
            <a:avLst/>
          </a:prstGeom>
          <a:solidFill>
            <a:srgbClr val="2FE07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6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670584" y="4321820"/>
            <a:ext cx="7325716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YOLO 目标检测 + Qwen3-VL 多模态大模型的输电线路检测分析</a:t>
            </a:r>
            <a:endParaRPr lang="en-US" sz="1920" dirty="0"/>
          </a:p>
        </p:txBody>
      </p:sp>
      <p:sp>
        <p:nvSpPr>
          <p:cNvPr id="13" name="Text 9"/>
          <p:cNvSpPr/>
          <p:nvPr/>
        </p:nvSpPr>
        <p:spPr>
          <a:xfrm>
            <a:off x="6781830" y="4663165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预警系统</a:t>
            </a:r>
            <a:endParaRPr lang="en-US" sz="1920" dirty="0"/>
          </a:p>
        </p:txBody>
      </p:sp>
      <p:sp>
        <p:nvSpPr>
          <p:cNvPr id="14" name="Text 10"/>
          <p:cNvSpPr/>
          <p:nvPr/>
        </p:nvSpPr>
        <p:spPr>
          <a:xfrm>
            <a:off x="5435925" y="5356442"/>
            <a:ext cx="402336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5764240" y="5596768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44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5281803" y="5886359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目标识别</a:t>
            </a:r>
            <a:endParaRPr lang="en-US" sz="1584" dirty="0"/>
          </a:p>
        </p:txBody>
      </p:sp>
      <p:sp>
        <p:nvSpPr>
          <p:cNvPr id="17" name="Shape 13"/>
          <p:cNvSpPr/>
          <p:nvPr/>
        </p:nvSpPr>
        <p:spPr>
          <a:xfrm>
            <a:off x="6477792" y="5452019"/>
            <a:ext cx="7590" cy="6629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4251" y="5356442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7466030" y="5596768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44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6741825" y="5886359"/>
            <a:ext cx="113934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发现到派发</a:t>
            </a:r>
            <a:endParaRPr lang="en-US" sz="1584" dirty="0"/>
          </a:p>
        </p:txBody>
      </p:sp>
      <p:sp>
        <p:nvSpPr>
          <p:cNvPr id="21" name="Shape 17"/>
          <p:cNvSpPr/>
          <p:nvPr/>
        </p:nvSpPr>
        <p:spPr>
          <a:xfrm>
            <a:off x="8137520" y="5452019"/>
            <a:ext cx="7590" cy="66294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22538" y="5356442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9034318" y="5596768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44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</a:t>
            </a:r>
            <a:endParaRPr lang="en-US" sz="1440" dirty="0"/>
          </a:p>
        </p:txBody>
      </p:sp>
      <p:sp>
        <p:nvSpPr>
          <p:cNvPr id="24" name="Text 20"/>
          <p:cNvSpPr/>
          <p:nvPr/>
        </p:nvSpPr>
        <p:spPr>
          <a:xfrm>
            <a:off x="8414720" y="5886359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闭环提速</a:t>
            </a:r>
            <a:endParaRPr lang="en-US" sz="1584" dirty="0"/>
          </a:p>
        </p:txBody>
      </p:sp>
      <p:sp>
        <p:nvSpPr>
          <p:cNvPr id="25" name="Text 21"/>
          <p:cNvSpPr/>
          <p:nvPr/>
        </p:nvSpPr>
        <p:spPr>
          <a:xfrm>
            <a:off x="5653049" y="7284750"/>
            <a:ext cx="63651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v3.0</a:t>
            </a:r>
            <a:endParaRPr lang="en-US" sz="1584" dirty="0"/>
          </a:p>
        </p:txBody>
      </p:sp>
      <p:sp>
        <p:nvSpPr>
          <p:cNvPr id="26" name="Text 22"/>
          <p:cNvSpPr/>
          <p:nvPr/>
        </p:nvSpPr>
        <p:spPr>
          <a:xfrm>
            <a:off x="6372682" y="7284750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584" dirty="0"/>
          </a:p>
        </p:txBody>
      </p:sp>
      <p:sp>
        <p:nvSpPr>
          <p:cNvPr id="27" name="Text 23"/>
          <p:cNvSpPr/>
          <p:nvPr/>
        </p:nvSpPr>
        <p:spPr>
          <a:xfrm>
            <a:off x="6628806" y="7284750"/>
            <a:ext cx="10888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</a:t>
            </a:r>
            <a:endParaRPr lang="en-US" sz="1584" dirty="0"/>
          </a:p>
        </p:txBody>
      </p:sp>
      <p:sp>
        <p:nvSpPr>
          <p:cNvPr id="28" name="Text 24"/>
          <p:cNvSpPr/>
          <p:nvPr/>
        </p:nvSpPr>
        <p:spPr>
          <a:xfrm>
            <a:off x="7753426" y="7284750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584" dirty="0"/>
          </a:p>
        </p:txBody>
      </p:sp>
      <p:sp>
        <p:nvSpPr>
          <p:cNvPr id="29" name="Text 25"/>
          <p:cNvSpPr/>
          <p:nvPr/>
        </p:nvSpPr>
        <p:spPr>
          <a:xfrm>
            <a:off x="8051886" y="7284750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评委演示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行业现状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传统人工巡检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三大痛点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33"/>
            <a:ext cx="902814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输电线路巡检长期依赖人工登塔巡视，成本高、漏检多、缺乏闭环管理。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822960" y="2525390"/>
            <a:ext cx="4165549" cy="5033589"/>
          </a:xfrm>
          <a:prstGeom prst="roundRect">
            <a:avLst>
              <a:gd name="adj" fmla="val 6679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25390"/>
            <a:ext cx="4165549" cy="5033589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837840"/>
            <a:ext cx="426750" cy="426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0817" y="283784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15" name="Text 10"/>
          <p:cNvSpPr/>
          <p:nvPr/>
        </p:nvSpPr>
        <p:spPr>
          <a:xfrm>
            <a:off x="1120140" y="3432200"/>
            <a:ext cx="9138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痛点 01</a:t>
            </a:r>
            <a:endParaRPr lang="en-US" sz="1584" dirty="0"/>
          </a:p>
        </p:txBody>
      </p:sp>
      <p:sp>
        <p:nvSpPr>
          <p:cNvPr id="16" name="Text 11"/>
          <p:cNvSpPr/>
          <p:nvPr/>
        </p:nvSpPr>
        <p:spPr>
          <a:xfrm>
            <a:off x="1120140" y="3875885"/>
            <a:ext cx="3662629" cy="319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人力成本高</a:t>
            </a:r>
            <a:endParaRPr lang="en-US" sz="1920" dirty="0"/>
          </a:p>
        </p:txBody>
      </p:sp>
      <p:sp>
        <p:nvSpPr>
          <p:cNvPr id="17" name="Text 12"/>
          <p:cNvSpPr/>
          <p:nvPr/>
        </p:nvSpPr>
        <p:spPr>
          <a:xfrm>
            <a:off x="1120140" y="4343766"/>
            <a:ext cx="350517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单塔巡视耗时耗力，巡检频次与覆盖</a:t>
            </a:r>
            <a:endParaRPr lang="en-US" sz="1680" dirty="0"/>
          </a:p>
        </p:txBody>
      </p:sp>
      <p:sp>
        <p:nvSpPr>
          <p:cNvPr id="18" name="Text 13"/>
          <p:cNvSpPr/>
          <p:nvPr/>
        </p:nvSpPr>
        <p:spPr>
          <a:xfrm>
            <a:off x="1120140" y="4663806"/>
            <a:ext cx="115827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率难以保障</a:t>
            </a:r>
            <a:endParaRPr lang="en-US" sz="1680" dirty="0"/>
          </a:p>
        </p:txBody>
      </p:sp>
      <p:sp>
        <p:nvSpPr>
          <p:cNvPr id="19" name="Shape 14"/>
          <p:cNvSpPr/>
          <p:nvPr/>
        </p:nvSpPr>
        <p:spPr>
          <a:xfrm>
            <a:off x="5232288" y="2525390"/>
            <a:ext cx="4165641" cy="5033589"/>
          </a:xfrm>
          <a:prstGeom prst="roundRect">
            <a:avLst>
              <a:gd name="adj" fmla="val 6679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288" y="2525390"/>
            <a:ext cx="4165641" cy="5033589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468" y="2837840"/>
            <a:ext cx="426750" cy="4267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840236" y="283784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23" name="Text 16"/>
          <p:cNvSpPr/>
          <p:nvPr/>
        </p:nvSpPr>
        <p:spPr>
          <a:xfrm>
            <a:off x="5529468" y="3432200"/>
            <a:ext cx="9138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痛点 02</a:t>
            </a:r>
            <a:endParaRPr lang="en-US" sz="1584" dirty="0"/>
          </a:p>
        </p:txBody>
      </p:sp>
      <p:sp>
        <p:nvSpPr>
          <p:cNvPr id="24" name="Text 17"/>
          <p:cNvSpPr/>
          <p:nvPr/>
        </p:nvSpPr>
        <p:spPr>
          <a:xfrm>
            <a:off x="5529468" y="3875885"/>
            <a:ext cx="3662721" cy="319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漏检率高</a:t>
            </a:r>
            <a:endParaRPr lang="en-US" sz="1920" dirty="0"/>
          </a:p>
        </p:txBody>
      </p:sp>
      <p:sp>
        <p:nvSpPr>
          <p:cNvPr id="25" name="Text 18"/>
          <p:cNvSpPr/>
          <p:nvPr/>
        </p:nvSpPr>
        <p:spPr>
          <a:xfrm>
            <a:off x="5529468" y="4343766"/>
            <a:ext cx="329184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微小缺陷依赖人工分辨，易疲劳误</a:t>
            </a:r>
            <a:endParaRPr lang="en-US" sz="1680" dirty="0"/>
          </a:p>
        </p:txBody>
      </p:sp>
      <p:sp>
        <p:nvSpPr>
          <p:cNvPr id="26" name="Text 19"/>
          <p:cNvSpPr/>
          <p:nvPr/>
        </p:nvSpPr>
        <p:spPr>
          <a:xfrm>
            <a:off x="5529468" y="4663806"/>
            <a:ext cx="17983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判、隐患滞后发现</a:t>
            </a:r>
            <a:endParaRPr lang="en-US" sz="1680" dirty="0"/>
          </a:p>
        </p:txBody>
      </p:sp>
      <p:sp>
        <p:nvSpPr>
          <p:cNvPr id="27" name="Shape 20"/>
          <p:cNvSpPr/>
          <p:nvPr/>
        </p:nvSpPr>
        <p:spPr>
          <a:xfrm>
            <a:off x="9641799" y="2525390"/>
            <a:ext cx="4165641" cy="5033589"/>
          </a:xfrm>
          <a:prstGeom prst="roundRect">
            <a:avLst>
              <a:gd name="adj" fmla="val 6679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1799" y="2525390"/>
            <a:ext cx="4165641" cy="5033589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8979" y="2837840"/>
            <a:ext cx="426750" cy="42675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249747" y="283784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31" name="Text 22"/>
          <p:cNvSpPr/>
          <p:nvPr/>
        </p:nvSpPr>
        <p:spPr>
          <a:xfrm>
            <a:off x="9938979" y="3432200"/>
            <a:ext cx="9138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痛点 03</a:t>
            </a:r>
            <a:endParaRPr lang="en-US" sz="1584" dirty="0"/>
          </a:p>
        </p:txBody>
      </p:sp>
      <p:sp>
        <p:nvSpPr>
          <p:cNvPr id="32" name="Text 23"/>
          <p:cNvSpPr/>
          <p:nvPr/>
        </p:nvSpPr>
        <p:spPr>
          <a:xfrm>
            <a:off x="9938979" y="3875885"/>
            <a:ext cx="3662721" cy="319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9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缺乏闭环</a:t>
            </a:r>
            <a:endParaRPr lang="en-US" sz="1920" dirty="0"/>
          </a:p>
        </p:txBody>
      </p:sp>
      <p:sp>
        <p:nvSpPr>
          <p:cNvPr id="33" name="Text 24"/>
          <p:cNvSpPr/>
          <p:nvPr/>
        </p:nvSpPr>
        <p:spPr>
          <a:xfrm>
            <a:off x="9938979" y="4343766"/>
            <a:ext cx="350517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缺陷记录停留在纸质台账，发现到修</a:t>
            </a:r>
            <a:endParaRPr lang="en-US" sz="1680" dirty="0"/>
          </a:p>
        </p:txBody>
      </p:sp>
      <p:sp>
        <p:nvSpPr>
          <p:cNvPr id="34" name="Text 25"/>
          <p:cNvSpPr/>
          <p:nvPr/>
        </p:nvSpPr>
        <p:spPr>
          <a:xfrm>
            <a:off x="9938979" y="4663806"/>
            <a:ext cx="137160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复无流程追踪</a:t>
            </a: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解决方案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三位一体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智能闭环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24995"/>
            <a:ext cx="5323545" cy="5634076"/>
          </a:xfrm>
          <a:prstGeom prst="roundRect">
            <a:avLst>
              <a:gd name="adj" fmla="val 5226"/>
            </a:avLst>
          </a:prstGeom>
          <a:solidFill>
            <a:srgbClr val="0611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4995"/>
            <a:ext cx="5323545" cy="5634076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50" y="2462205"/>
            <a:ext cx="228600" cy="15270"/>
          </a:xfrm>
          <a:prstGeom prst="rect">
            <a:avLst/>
          </a:prstGeom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1577340" y="2344064"/>
            <a:ext cx="99386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264" kern="0" dirty="0">
                <a:solidFill>
                  <a:srgbClr val="A8F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核心价值</a:t>
            </a:r>
            <a:endParaRPr lang="en-US" sz="1452" dirty="0"/>
          </a:p>
        </p:txBody>
      </p:sp>
      <p:sp>
        <p:nvSpPr>
          <p:cNvPr id="14" name="Text 9"/>
          <p:cNvSpPr/>
          <p:nvPr/>
        </p:nvSpPr>
        <p:spPr>
          <a:xfrm>
            <a:off x="3349904" y="2186510"/>
            <a:ext cx="2688336" cy="220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0"/>
              </a:lnSpc>
              <a:buNone/>
            </a:pPr>
            <a:r>
              <a:rPr lang="en-US" sz="18000" b="1" spc="-200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15" name="Text 10"/>
          <p:cNvSpPr/>
          <p:nvPr/>
        </p:nvSpPr>
        <p:spPr>
          <a:xfrm>
            <a:off x="1226850" y="5297119"/>
            <a:ext cx="929030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931"/>
              </a:lnSpc>
              <a:buNone/>
            </a:pPr>
            <a:r>
              <a:rPr lang="en-US" sz="5040" b="1" spc="-189" kern="0" dirty="0">
                <a:solidFill>
                  <a:srgbClr val="A8F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40" dirty="0"/>
          </a:p>
        </p:txBody>
      </p:sp>
      <p:sp>
        <p:nvSpPr>
          <p:cNvPr id="16" name="Text 11"/>
          <p:cNvSpPr/>
          <p:nvPr/>
        </p:nvSpPr>
        <p:spPr>
          <a:xfrm>
            <a:off x="1226850" y="6118726"/>
            <a:ext cx="4607204" cy="5212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spc="-45" kern="0" dirty="0">
                <a:solidFill>
                  <a:srgbClr val="EAFF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1226850" y="6788524"/>
            <a:ext cx="4607204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740" dirty="0">
                <a:solidFill>
                  <a:srgbClr val="EAFFF4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实时识别 8 类线路目标，秒级定位缺陷</a:t>
            </a:r>
            <a:endParaRPr lang="en-US" sz="1740" dirty="0"/>
          </a:p>
        </p:txBody>
      </p:sp>
      <p:sp>
        <p:nvSpPr>
          <p:cNvPr id="18" name="Shape 13"/>
          <p:cNvSpPr/>
          <p:nvPr/>
        </p:nvSpPr>
        <p:spPr>
          <a:xfrm>
            <a:off x="822960" y="1924995"/>
            <a:ext cx="5285415" cy="5595945"/>
          </a:xfrm>
          <a:prstGeom prst="roundRect">
            <a:avLst>
              <a:gd name="adj" fmla="val 5264"/>
            </a:avLst>
          </a:prstGeom>
          <a:solidFill>
            <a:srgbClr val="53E6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87464" y="2319376"/>
            <a:ext cx="15270" cy="4845406"/>
          </a:xfrm>
          <a:prstGeom prst="rect">
            <a:avLst/>
          </a:prstGeom>
          <a:solidFill>
            <a:srgbClr val="2FE07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12700" dir="16200000">
              <a:srgbClr val="2FE07F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2715" y="1924995"/>
            <a:ext cx="7264725" cy="18779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42715" y="3791397"/>
            <a:ext cx="7264725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41744" y="2806751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923745" y="2628306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20" dirty="0"/>
          </a:p>
        </p:txBody>
      </p:sp>
      <p:sp>
        <p:nvSpPr>
          <p:cNvPr id="24" name="Text 19"/>
          <p:cNvSpPr/>
          <p:nvPr/>
        </p:nvSpPr>
        <p:spPr>
          <a:xfrm>
            <a:off x="7627833" y="2549756"/>
            <a:ext cx="4467484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大模型判</a:t>
            </a:r>
            <a:endParaRPr lang="en-US" sz="1980" dirty="0"/>
          </a:p>
        </p:txBody>
      </p:sp>
      <p:sp>
        <p:nvSpPr>
          <p:cNvPr id="25" name="Text 20"/>
          <p:cNvSpPr/>
          <p:nvPr/>
        </p:nvSpPr>
        <p:spPr>
          <a:xfrm>
            <a:off x="7627833" y="2898008"/>
            <a:ext cx="4412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Qwen3-VL 语义级深度分析，输出成因推断与维修建议</a:t>
            </a:r>
            <a:endParaRPr lang="en-US" sz="1440" dirty="0"/>
          </a:p>
        </p:txBody>
      </p:sp>
      <p:sp>
        <p:nvSpPr>
          <p:cNvPr id="26" name="Shape 21"/>
          <p:cNvSpPr/>
          <p:nvPr/>
        </p:nvSpPr>
        <p:spPr>
          <a:xfrm>
            <a:off x="6542715" y="3802990"/>
            <a:ext cx="7264725" cy="18780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42715" y="5669483"/>
            <a:ext cx="7264725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41744" y="4684837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923745" y="4506300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20" dirty="0"/>
          </a:p>
        </p:txBody>
      </p:sp>
      <p:sp>
        <p:nvSpPr>
          <p:cNvPr id="30" name="Text 25"/>
          <p:cNvSpPr/>
          <p:nvPr/>
        </p:nvSpPr>
        <p:spPr>
          <a:xfrm>
            <a:off x="7627833" y="4427842"/>
            <a:ext cx="4663440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</a:t>
            </a:r>
            <a:endParaRPr lang="en-US" sz="1980" dirty="0"/>
          </a:p>
        </p:txBody>
      </p:sp>
      <p:sp>
        <p:nvSpPr>
          <p:cNvPr id="31" name="Text 26"/>
          <p:cNvSpPr/>
          <p:nvPr/>
        </p:nvSpPr>
        <p:spPr>
          <a:xfrm>
            <a:off x="7627833" y="4776094"/>
            <a:ext cx="4608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工单全流程流转，从派发、处理、复检到闭环全程可追溯</a:t>
            </a:r>
            <a:endParaRPr lang="en-US" sz="1440" dirty="0"/>
          </a:p>
        </p:txBody>
      </p:sp>
      <p:sp>
        <p:nvSpPr>
          <p:cNvPr id="32" name="Shape 27"/>
          <p:cNvSpPr/>
          <p:nvPr/>
        </p:nvSpPr>
        <p:spPr>
          <a:xfrm>
            <a:off x="6641744" y="6562832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6923745" y="6384387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20" dirty="0"/>
          </a:p>
        </p:txBody>
      </p:sp>
      <p:sp>
        <p:nvSpPr>
          <p:cNvPr id="34" name="Text 29"/>
          <p:cNvSpPr/>
          <p:nvPr/>
        </p:nvSpPr>
        <p:spPr>
          <a:xfrm>
            <a:off x="7627833" y="6305745"/>
            <a:ext cx="4138574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让巡检</a:t>
            </a:r>
            <a:endParaRPr lang="en-US" sz="1980" dirty="0"/>
          </a:p>
        </p:txBody>
      </p:sp>
      <p:sp>
        <p:nvSpPr>
          <p:cNvPr id="35" name="Text 30"/>
          <p:cNvSpPr/>
          <p:nvPr/>
        </p:nvSpPr>
        <p:spPr>
          <a:xfrm>
            <a:off x="7627833" y="6654089"/>
            <a:ext cx="408371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从「人眼看」升级为「AI 识 + 大模型判 + 闭环管」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系统架构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四层协同</a:t>
            </a:r>
            <a:endParaRPr lang="en-US" sz="34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6395"/>
            <a:ext cx="12984480" cy="58626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35710" y="3896167"/>
            <a:ext cx="1463040" cy="1463040"/>
          </a:xfrm>
          <a:prstGeom prst="ellipse">
            <a:avLst/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710" y="3896167"/>
            <a:ext cx="1463040" cy="146304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3825210" y="4372021"/>
            <a:ext cx="8839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56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数据输入</a:t>
            </a:r>
            <a:endParaRPr lang="en-US" sz="1560" dirty="0"/>
          </a:p>
        </p:txBody>
      </p:sp>
      <p:sp>
        <p:nvSpPr>
          <p:cNvPr id="14" name="Text 9"/>
          <p:cNvSpPr/>
          <p:nvPr/>
        </p:nvSpPr>
        <p:spPr>
          <a:xfrm>
            <a:off x="3904637" y="4654753"/>
            <a:ext cx="72509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88" spc="54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多源采集</a:t>
            </a:r>
            <a:endParaRPr lang="en-US" sz="1188" dirty="0"/>
          </a:p>
        </p:txBody>
      </p:sp>
      <p:sp>
        <p:nvSpPr>
          <p:cNvPr id="15" name="Shape 10"/>
          <p:cNvSpPr/>
          <p:nvPr/>
        </p:nvSpPr>
        <p:spPr>
          <a:xfrm>
            <a:off x="8168610" y="2453975"/>
            <a:ext cx="1463040" cy="1463040"/>
          </a:xfrm>
          <a:prstGeom prst="ellipse">
            <a:avLst/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610" y="2453975"/>
            <a:ext cx="1463040" cy="146304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7" name="Text 11"/>
          <p:cNvSpPr/>
          <p:nvPr/>
        </p:nvSpPr>
        <p:spPr>
          <a:xfrm>
            <a:off x="8496574" y="2929738"/>
            <a:ext cx="80711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56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引擎</a:t>
            </a:r>
            <a:endParaRPr lang="en-US" sz="1560" dirty="0"/>
          </a:p>
        </p:txBody>
      </p:sp>
      <p:sp>
        <p:nvSpPr>
          <p:cNvPr id="18" name="Text 12"/>
          <p:cNvSpPr/>
          <p:nvPr/>
        </p:nvSpPr>
        <p:spPr>
          <a:xfrm>
            <a:off x="8615957" y="3212562"/>
            <a:ext cx="56825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88" spc="54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双引擎</a:t>
            </a:r>
            <a:endParaRPr lang="en-US" sz="1188" dirty="0"/>
          </a:p>
        </p:txBody>
      </p:sp>
      <p:sp>
        <p:nvSpPr>
          <p:cNvPr id="19" name="Shape 13"/>
          <p:cNvSpPr/>
          <p:nvPr/>
        </p:nvSpPr>
        <p:spPr>
          <a:xfrm>
            <a:off x="8168610" y="5338267"/>
            <a:ext cx="1463040" cy="1463040"/>
          </a:xfrm>
          <a:prstGeom prst="ellipse">
            <a:avLst/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10" y="5338267"/>
            <a:ext cx="1463040" cy="146304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1" name="Text 14"/>
          <p:cNvSpPr/>
          <p:nvPr/>
        </p:nvSpPr>
        <p:spPr>
          <a:xfrm>
            <a:off x="8458200" y="5814030"/>
            <a:ext cx="8839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56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闭环管理</a:t>
            </a:r>
            <a:endParaRPr lang="en-US" sz="1560" dirty="0"/>
          </a:p>
        </p:txBody>
      </p:sp>
      <p:sp>
        <p:nvSpPr>
          <p:cNvPr id="22" name="Text 15"/>
          <p:cNvSpPr/>
          <p:nvPr/>
        </p:nvSpPr>
        <p:spPr>
          <a:xfrm>
            <a:off x="8615957" y="6096853"/>
            <a:ext cx="56825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88" spc="54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全流程</a:t>
            </a:r>
            <a:endParaRPr lang="en-US" sz="1188" dirty="0"/>
          </a:p>
        </p:txBody>
      </p:sp>
      <p:sp>
        <p:nvSpPr>
          <p:cNvPr id="23" name="Shape 16"/>
          <p:cNvSpPr/>
          <p:nvPr/>
        </p:nvSpPr>
        <p:spPr>
          <a:xfrm>
            <a:off x="1036290" y="3054279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90" y="3054279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5" name="Text 17"/>
          <p:cNvSpPr/>
          <p:nvPr/>
        </p:nvSpPr>
        <p:spPr>
          <a:xfrm>
            <a:off x="2656881" y="3183758"/>
            <a:ext cx="49011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</a:t>
            </a:r>
            <a:endParaRPr lang="en-US" sz="1560" dirty="0"/>
          </a:p>
        </p:txBody>
      </p:sp>
      <p:sp>
        <p:nvSpPr>
          <p:cNvPr id="26" name="Text 18"/>
          <p:cNvSpPr/>
          <p:nvPr/>
        </p:nvSpPr>
        <p:spPr>
          <a:xfrm>
            <a:off x="1925223" y="3488619"/>
            <a:ext cx="1221867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单张 / 批量上传</a:t>
            </a:r>
            <a:endParaRPr lang="en-US" sz="1260" dirty="0"/>
          </a:p>
        </p:txBody>
      </p:sp>
      <p:sp>
        <p:nvSpPr>
          <p:cNvPr id="27" name="Shape 19"/>
          <p:cNvSpPr/>
          <p:nvPr/>
        </p:nvSpPr>
        <p:spPr>
          <a:xfrm>
            <a:off x="1036290" y="4230014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290" y="4230014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9" name="Text 20"/>
          <p:cNvSpPr/>
          <p:nvPr/>
        </p:nvSpPr>
        <p:spPr>
          <a:xfrm>
            <a:off x="2656881" y="4359493"/>
            <a:ext cx="49011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560" dirty="0"/>
          </a:p>
        </p:txBody>
      </p:sp>
      <p:sp>
        <p:nvSpPr>
          <p:cNvPr id="30" name="Text 21"/>
          <p:cNvSpPr/>
          <p:nvPr/>
        </p:nvSpPr>
        <p:spPr>
          <a:xfrm>
            <a:off x="2415570" y="4664354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逐帧分析</a:t>
            </a:r>
            <a:endParaRPr lang="en-US" sz="1260" dirty="0"/>
          </a:p>
        </p:txBody>
      </p:sp>
      <p:sp>
        <p:nvSpPr>
          <p:cNvPr id="31" name="Shape 22"/>
          <p:cNvSpPr/>
          <p:nvPr/>
        </p:nvSpPr>
        <p:spPr>
          <a:xfrm>
            <a:off x="1036290" y="5405658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290" y="5405658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3" name="Text 23"/>
          <p:cNvSpPr/>
          <p:nvPr/>
        </p:nvSpPr>
        <p:spPr>
          <a:xfrm>
            <a:off x="2461290" y="5535138"/>
            <a:ext cx="68580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</a:t>
            </a:r>
            <a:endParaRPr lang="en-US" sz="1560" dirty="0"/>
          </a:p>
        </p:txBody>
      </p:sp>
      <p:sp>
        <p:nvSpPr>
          <p:cNvPr id="34" name="Text 24"/>
          <p:cNvSpPr/>
          <p:nvPr/>
        </p:nvSpPr>
        <p:spPr>
          <a:xfrm>
            <a:off x="2415570" y="5839998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实时检测</a:t>
            </a:r>
            <a:endParaRPr lang="en-US" sz="1260" dirty="0"/>
          </a:p>
        </p:txBody>
      </p:sp>
      <p:sp>
        <p:nvSpPr>
          <p:cNvPr id="35" name="Shape 25"/>
          <p:cNvSpPr/>
          <p:nvPr/>
        </p:nvSpPr>
        <p:spPr>
          <a:xfrm>
            <a:off x="11308110" y="1831635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8110" y="1831635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7" name="Text 26"/>
          <p:cNvSpPr/>
          <p:nvPr/>
        </p:nvSpPr>
        <p:spPr>
          <a:xfrm>
            <a:off x="11483310" y="1961114"/>
            <a:ext cx="106070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检测</a:t>
            </a:r>
            <a:endParaRPr lang="en-US" sz="1560" dirty="0"/>
          </a:p>
        </p:txBody>
      </p:sp>
      <p:sp>
        <p:nvSpPr>
          <p:cNvPr id="38" name="Text 27"/>
          <p:cNvSpPr/>
          <p:nvPr/>
        </p:nvSpPr>
        <p:spPr>
          <a:xfrm>
            <a:off x="11483310" y="2265975"/>
            <a:ext cx="103144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类目标识别</a:t>
            </a:r>
            <a:endParaRPr lang="en-US" sz="1260" dirty="0"/>
          </a:p>
        </p:txBody>
      </p:sp>
      <p:sp>
        <p:nvSpPr>
          <p:cNvPr id="39" name="Shape 28"/>
          <p:cNvSpPr/>
          <p:nvPr/>
        </p:nvSpPr>
        <p:spPr>
          <a:xfrm>
            <a:off x="11308110" y="2790840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8110" y="2790840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41" name="Text 29"/>
          <p:cNvSpPr/>
          <p:nvPr/>
        </p:nvSpPr>
        <p:spPr>
          <a:xfrm>
            <a:off x="11483310" y="2920411"/>
            <a:ext cx="107807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Qwen3-VL</a:t>
            </a:r>
            <a:endParaRPr lang="en-US" sz="1560" dirty="0"/>
          </a:p>
        </p:txBody>
      </p:sp>
      <p:sp>
        <p:nvSpPr>
          <p:cNvPr id="42" name="Text 30"/>
          <p:cNvSpPr/>
          <p:nvPr/>
        </p:nvSpPr>
        <p:spPr>
          <a:xfrm>
            <a:off x="11483310" y="3225180"/>
            <a:ext cx="1170661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 + 兜底</a:t>
            </a:r>
            <a:endParaRPr lang="en-US" sz="1260" dirty="0"/>
          </a:p>
        </p:txBody>
      </p:sp>
      <p:sp>
        <p:nvSpPr>
          <p:cNvPr id="43" name="Shape 31"/>
          <p:cNvSpPr/>
          <p:nvPr/>
        </p:nvSpPr>
        <p:spPr>
          <a:xfrm>
            <a:off x="11308110" y="3750320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08110" y="3750320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45" name="Text 32"/>
          <p:cNvSpPr/>
          <p:nvPr/>
        </p:nvSpPr>
        <p:spPr>
          <a:xfrm>
            <a:off x="11483310" y="3879799"/>
            <a:ext cx="8839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智能预警</a:t>
            </a:r>
            <a:endParaRPr lang="en-US" sz="1560" dirty="0"/>
          </a:p>
        </p:txBody>
      </p:sp>
      <p:sp>
        <p:nvSpPr>
          <p:cNvPr id="46" name="Text 33"/>
          <p:cNvSpPr/>
          <p:nvPr/>
        </p:nvSpPr>
        <p:spPr>
          <a:xfrm>
            <a:off x="11483310" y="418466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三重判定</a:t>
            </a:r>
            <a:endParaRPr lang="en-US" sz="1260" dirty="0"/>
          </a:p>
        </p:txBody>
      </p:sp>
      <p:sp>
        <p:nvSpPr>
          <p:cNvPr id="47" name="Shape 34"/>
          <p:cNvSpPr/>
          <p:nvPr/>
        </p:nvSpPr>
        <p:spPr>
          <a:xfrm>
            <a:off x="11308110" y="4709617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08110" y="4709617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49" name="Text 35"/>
          <p:cNvSpPr/>
          <p:nvPr/>
        </p:nvSpPr>
        <p:spPr>
          <a:xfrm>
            <a:off x="11483310" y="4839096"/>
            <a:ext cx="8839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工单流转</a:t>
            </a:r>
            <a:endParaRPr lang="en-US" sz="1560" dirty="0"/>
          </a:p>
        </p:txBody>
      </p:sp>
      <p:sp>
        <p:nvSpPr>
          <p:cNvPr id="50" name="Text 36"/>
          <p:cNvSpPr/>
          <p:nvPr/>
        </p:nvSpPr>
        <p:spPr>
          <a:xfrm>
            <a:off x="11483310" y="5143957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状态管理</a:t>
            </a:r>
            <a:endParaRPr lang="en-US" sz="1260" dirty="0"/>
          </a:p>
        </p:txBody>
      </p:sp>
      <p:sp>
        <p:nvSpPr>
          <p:cNvPr id="51" name="Shape 37"/>
          <p:cNvSpPr/>
          <p:nvPr/>
        </p:nvSpPr>
        <p:spPr>
          <a:xfrm>
            <a:off x="11308110" y="5669006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08110" y="5669006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53" name="Text 38"/>
          <p:cNvSpPr/>
          <p:nvPr/>
        </p:nvSpPr>
        <p:spPr>
          <a:xfrm>
            <a:off x="11483310" y="5798485"/>
            <a:ext cx="8839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数据留痕</a:t>
            </a:r>
            <a:endParaRPr lang="en-US" sz="1560" dirty="0"/>
          </a:p>
        </p:txBody>
      </p:sp>
      <p:sp>
        <p:nvSpPr>
          <p:cNvPr id="54" name="Text 39"/>
          <p:cNvSpPr/>
          <p:nvPr/>
        </p:nvSpPr>
        <p:spPr>
          <a:xfrm>
            <a:off x="11483310" y="6103346"/>
            <a:ext cx="8915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日志时间线</a:t>
            </a:r>
            <a:endParaRPr lang="en-US" sz="1260" dirty="0"/>
          </a:p>
        </p:txBody>
      </p:sp>
      <p:sp>
        <p:nvSpPr>
          <p:cNvPr id="55" name="Shape 40"/>
          <p:cNvSpPr/>
          <p:nvPr/>
        </p:nvSpPr>
        <p:spPr>
          <a:xfrm>
            <a:off x="11308110" y="6628303"/>
            <a:ext cx="2286000" cy="795437"/>
          </a:xfrm>
          <a:prstGeom prst="roundRect">
            <a:avLst>
              <a:gd name="adj" fmla="val 34979"/>
            </a:avLst>
          </a:prstGeom>
          <a:solidFill>
            <a:srgbClr val="07090B"/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08110" y="6628303"/>
            <a:ext cx="2286000" cy="795437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57" name="Text 41"/>
          <p:cNvSpPr/>
          <p:nvPr/>
        </p:nvSpPr>
        <p:spPr>
          <a:xfrm>
            <a:off x="11483310" y="6757782"/>
            <a:ext cx="8839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报告导出</a:t>
            </a:r>
            <a:endParaRPr lang="en-US" sz="1560" dirty="0"/>
          </a:p>
        </p:txBody>
      </p:sp>
      <p:sp>
        <p:nvSpPr>
          <p:cNvPr id="58" name="Text 42"/>
          <p:cNvSpPr/>
          <p:nvPr/>
        </p:nvSpPr>
        <p:spPr>
          <a:xfrm>
            <a:off x="11483310" y="7062643"/>
            <a:ext cx="844357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文档</a:t>
            </a:r>
            <a:endParaRPr lang="en-US" sz="1260" dirty="0"/>
          </a:p>
        </p:txBody>
      </p:sp>
      <p:sp>
        <p:nvSpPr>
          <p:cNvPr id="59" name="Shape 43"/>
          <p:cNvSpPr/>
          <p:nvPr/>
        </p:nvSpPr>
        <p:spPr>
          <a:xfrm>
            <a:off x="6507510" y="3819997"/>
            <a:ext cx="1615470" cy="161547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2FE07F">
                <a:alpha val="70000"/>
              </a:srgbClr>
            </a:solidFill>
            <a:prstDash val="solid"/>
          </a:ln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7510" y="3819997"/>
            <a:ext cx="1615470" cy="1615470"/>
          </a:xfrm>
          <a:prstGeom prst="rect">
            <a:avLst/>
          </a:prstGeom>
          <a:effectLst>
            <a:outerShdw sx="100000" sy="100000" kx="0" ky="0" algn="bl" rotWithShape="0" blurRad="304800" dist="12700" dir="16200000">
              <a:srgbClr val="2FE07F">
                <a:alpha val="70000"/>
              </a:srgbClr>
            </a:outerShdw>
          </a:effectLst>
        </p:spPr>
      </p:pic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3827587"/>
            <a:ext cx="1600200" cy="1600200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6665976" y="4240347"/>
            <a:ext cx="1298539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2400" b="1" spc="-30" kern="0" dirty="0">
                <a:solidFill>
                  <a:srgbClr val="081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智能巡检</a:t>
            </a:r>
            <a:endParaRPr lang="en-US" sz="2400" dirty="0"/>
          </a:p>
        </p:txBody>
      </p:sp>
      <p:sp>
        <p:nvSpPr>
          <p:cNvPr id="63" name="Text 45"/>
          <p:cNvSpPr/>
          <p:nvPr/>
        </p:nvSpPr>
        <p:spPr>
          <a:xfrm>
            <a:off x="6967637" y="4569439"/>
            <a:ext cx="694944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2400" b="1" spc="-30" kern="0" dirty="0">
                <a:solidFill>
                  <a:srgbClr val="081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73973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核心功能 01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图片检测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0221"/>
            <a:ext cx="352510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多模态研判</a:t>
            </a:r>
            <a:endParaRPr lang="en-US" sz="34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791"/>
            <a:ext cx="5392674" cy="77958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9710" y="3874861"/>
            <a:ext cx="1589593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 实时推理</a:t>
            </a:r>
            <a:endParaRPr lang="en-US" sz="1584" dirty="0"/>
          </a:p>
        </p:txBody>
      </p:sp>
      <p:sp>
        <p:nvSpPr>
          <p:cNvPr id="12" name="Text 8"/>
          <p:cNvSpPr/>
          <p:nvPr/>
        </p:nvSpPr>
        <p:spPr>
          <a:xfrm>
            <a:off x="1120140" y="4264002"/>
            <a:ext cx="714451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440" dirty="0"/>
          </a:p>
        </p:txBody>
      </p:sp>
      <p:sp>
        <p:nvSpPr>
          <p:cNvPr id="13" name="Text 9"/>
          <p:cNvSpPr/>
          <p:nvPr/>
        </p:nvSpPr>
        <p:spPr>
          <a:xfrm>
            <a:off x="1769181" y="4829586"/>
            <a:ext cx="38185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</a:t>
            </a:r>
            <a:endParaRPr lang="en-US" sz="2232" dirty="0"/>
          </a:p>
        </p:txBody>
      </p:sp>
      <p:sp>
        <p:nvSpPr>
          <p:cNvPr id="14" name="Text 10"/>
          <p:cNvSpPr/>
          <p:nvPr/>
        </p:nvSpPr>
        <p:spPr>
          <a:xfrm>
            <a:off x="1120140" y="5304343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线路目标识别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46" y="433791"/>
            <a:ext cx="6030377" cy="77958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41550" y="3874861"/>
            <a:ext cx="1026597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加速</a:t>
            </a:r>
            <a:endParaRPr lang="en-US" sz="1584" dirty="0"/>
          </a:p>
        </p:txBody>
      </p:sp>
      <p:sp>
        <p:nvSpPr>
          <p:cNvPr id="17" name="Text 12"/>
          <p:cNvSpPr/>
          <p:nvPr/>
        </p:nvSpPr>
        <p:spPr>
          <a:xfrm>
            <a:off x="4411980" y="4264002"/>
            <a:ext cx="714451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40" dirty="0"/>
          </a:p>
        </p:txBody>
      </p:sp>
      <p:sp>
        <p:nvSpPr>
          <p:cNvPr id="18" name="Text 13"/>
          <p:cNvSpPr/>
          <p:nvPr/>
        </p:nvSpPr>
        <p:spPr>
          <a:xfrm>
            <a:off x="5061021" y="4829586"/>
            <a:ext cx="38185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</a:t>
            </a:r>
            <a:endParaRPr lang="en-US" sz="2232" dirty="0"/>
          </a:p>
        </p:txBody>
      </p:sp>
      <p:sp>
        <p:nvSpPr>
          <p:cNvPr id="19" name="Text 14"/>
          <p:cNvSpPr/>
          <p:nvPr/>
        </p:nvSpPr>
        <p:spPr>
          <a:xfrm>
            <a:off x="4411980" y="5304343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单图推理耗时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886" y="433791"/>
            <a:ext cx="6030377" cy="779580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33390" y="3874861"/>
            <a:ext cx="14427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 + 时间戳</a:t>
            </a:r>
            <a:endParaRPr lang="en-US" sz="1584" dirty="0"/>
          </a:p>
        </p:txBody>
      </p:sp>
      <p:sp>
        <p:nvSpPr>
          <p:cNvPr id="22" name="Text 16"/>
          <p:cNvSpPr/>
          <p:nvPr/>
        </p:nvSpPr>
        <p:spPr>
          <a:xfrm>
            <a:off x="7703820" y="4227882"/>
            <a:ext cx="1924538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</a:t>
            </a:r>
            <a:endParaRPr lang="en-US" sz="7440" dirty="0"/>
          </a:p>
        </p:txBody>
      </p:sp>
      <p:sp>
        <p:nvSpPr>
          <p:cNvPr id="23" name="Text 17"/>
          <p:cNvSpPr/>
          <p:nvPr/>
        </p:nvSpPr>
        <p:spPr>
          <a:xfrm>
            <a:off x="9628358" y="4829586"/>
            <a:ext cx="653979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</a:t>
            </a:r>
            <a:endParaRPr lang="en-US" sz="2232" dirty="0"/>
          </a:p>
        </p:txBody>
      </p:sp>
      <p:sp>
        <p:nvSpPr>
          <p:cNvPr id="24" name="Text 18"/>
          <p:cNvSpPr/>
          <p:nvPr/>
        </p:nvSpPr>
        <p:spPr>
          <a:xfrm>
            <a:off x="7703820" y="5304343"/>
            <a:ext cx="13898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EXIF 信息读取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7726" y="433791"/>
            <a:ext cx="5392674" cy="779580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25230" y="3874861"/>
            <a:ext cx="1348466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结果逐张查看</a:t>
            </a:r>
            <a:endParaRPr lang="en-US" sz="1584" dirty="0"/>
          </a:p>
        </p:txBody>
      </p:sp>
      <p:sp>
        <p:nvSpPr>
          <p:cNvPr id="27" name="Text 20"/>
          <p:cNvSpPr/>
          <p:nvPr/>
        </p:nvSpPr>
        <p:spPr>
          <a:xfrm>
            <a:off x="10995660" y="4227882"/>
            <a:ext cx="1924538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</a:t>
            </a:r>
            <a:endParaRPr lang="en-US" sz="7440" dirty="0"/>
          </a:p>
        </p:txBody>
      </p:sp>
      <p:sp>
        <p:nvSpPr>
          <p:cNvPr id="28" name="Text 21"/>
          <p:cNvSpPr/>
          <p:nvPr/>
        </p:nvSpPr>
        <p:spPr>
          <a:xfrm>
            <a:off x="12920198" y="4829586"/>
            <a:ext cx="653979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</a:t>
            </a:r>
            <a:endParaRPr lang="en-US" sz="2232" dirty="0"/>
          </a:p>
        </p:txBody>
      </p:sp>
      <p:sp>
        <p:nvSpPr>
          <p:cNvPr id="29" name="Text 22"/>
          <p:cNvSpPr/>
          <p:nvPr/>
        </p:nvSpPr>
        <p:spPr>
          <a:xfrm>
            <a:off x="10995660" y="5304343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多图网格展示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73973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核心功能 02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视频分析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逐帧检测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1807"/>
            <a:ext cx="8999525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上传巡检视频，逐帧 YOLO 推理，缺陷帧自动调用 AI 分析，输出带标注框的 MP4 与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22960" y="2093153"/>
            <a:ext cx="179835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帧缩略图网格。</a:t>
            </a:r>
            <a:endParaRPr lang="en-US" sz="192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633"/>
            <a:ext cx="6459413" cy="69149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04870" y="3053456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导入</a:t>
            </a:r>
            <a:endParaRPr lang="en-US" sz="1584" dirty="0"/>
          </a:p>
        </p:txBody>
      </p:sp>
      <p:sp>
        <p:nvSpPr>
          <p:cNvPr id="14" name="Text 10"/>
          <p:cNvSpPr/>
          <p:nvPr/>
        </p:nvSpPr>
        <p:spPr>
          <a:xfrm>
            <a:off x="4433286" y="3042026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104870" y="3478478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视频上传</a:t>
            </a:r>
            <a:endParaRPr lang="en-US" sz="2520" dirty="0"/>
          </a:p>
        </p:txBody>
      </p:sp>
      <p:sp>
        <p:nvSpPr>
          <p:cNvPr id="16" name="Text 12"/>
          <p:cNvSpPr/>
          <p:nvPr/>
        </p:nvSpPr>
        <p:spPr>
          <a:xfrm>
            <a:off x="1104870" y="3974988"/>
            <a:ext cx="368990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MP4 / AVI 等主流格式，默认处理</a:t>
            </a:r>
            <a:endParaRPr lang="en-US" sz="1680" dirty="0"/>
          </a:p>
        </p:txBody>
      </p:sp>
      <p:sp>
        <p:nvSpPr>
          <p:cNvPr id="17" name="Text 13"/>
          <p:cNvSpPr/>
          <p:nvPr/>
        </p:nvSpPr>
        <p:spPr>
          <a:xfrm>
            <a:off x="1104870" y="4295028"/>
            <a:ext cx="92903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60 秒</a:t>
            </a:r>
            <a:endParaRPr lang="en-US" sz="16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596" y="1314633"/>
            <a:ext cx="7097207" cy="69149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09260" y="3053456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检测</a:t>
            </a:r>
            <a:endParaRPr lang="en-US" sz="1584" dirty="0"/>
          </a:p>
        </p:txBody>
      </p:sp>
      <p:sp>
        <p:nvSpPr>
          <p:cNvPr id="20" name="Text 15"/>
          <p:cNvSpPr/>
          <p:nvPr/>
        </p:nvSpPr>
        <p:spPr>
          <a:xfrm>
            <a:off x="8837676" y="3042026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509260" y="3478478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逐帧推理</a:t>
            </a:r>
            <a:endParaRPr lang="en-US" sz="2520" dirty="0"/>
          </a:p>
        </p:txBody>
      </p:sp>
      <p:sp>
        <p:nvSpPr>
          <p:cNvPr id="22" name="Text 17"/>
          <p:cNvSpPr/>
          <p:nvPr/>
        </p:nvSpPr>
        <p:spPr>
          <a:xfrm>
            <a:off x="5509260" y="3974988"/>
            <a:ext cx="3475817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精确跳帧 YOLO，缺陷帧自动触发 AI</a:t>
            </a:r>
            <a:endParaRPr lang="en-US" sz="1680" dirty="0"/>
          </a:p>
        </p:txBody>
      </p:sp>
      <p:sp>
        <p:nvSpPr>
          <p:cNvPr id="23" name="Text 18"/>
          <p:cNvSpPr/>
          <p:nvPr/>
        </p:nvSpPr>
        <p:spPr>
          <a:xfrm>
            <a:off x="5509260" y="4295028"/>
            <a:ext cx="51937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68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987" y="1314633"/>
            <a:ext cx="6459413" cy="69149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13650" y="3053456"/>
            <a:ext cx="51997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输出</a:t>
            </a:r>
            <a:endParaRPr lang="en-US" sz="1584" dirty="0"/>
          </a:p>
        </p:txBody>
      </p:sp>
      <p:sp>
        <p:nvSpPr>
          <p:cNvPr id="26" name="Text 20"/>
          <p:cNvSpPr/>
          <p:nvPr/>
        </p:nvSpPr>
        <p:spPr>
          <a:xfrm>
            <a:off x="13241975" y="3042026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913650" y="3478478"/>
            <a:ext cx="370332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标注成品</a:t>
            </a:r>
            <a:endParaRPr lang="en-US" sz="2520" dirty="0"/>
          </a:p>
        </p:txBody>
      </p:sp>
      <p:sp>
        <p:nvSpPr>
          <p:cNvPr id="28" name="Text 22"/>
          <p:cNvSpPr/>
          <p:nvPr/>
        </p:nvSpPr>
        <p:spPr>
          <a:xfrm>
            <a:off x="9913650" y="3974988"/>
            <a:ext cx="3670706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H.264 标注 MP4 + 帧网格 + 时间点跳</a:t>
            </a:r>
            <a:endParaRPr lang="en-US" sz="1680" dirty="0"/>
          </a:p>
        </p:txBody>
      </p:sp>
      <p:sp>
        <p:nvSpPr>
          <p:cNvPr id="29" name="Text 23"/>
          <p:cNvSpPr/>
          <p:nvPr/>
        </p:nvSpPr>
        <p:spPr>
          <a:xfrm>
            <a:off x="9913650" y="4295028"/>
            <a:ext cx="314554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</a:t>
            </a:r>
            <a:endParaRPr lang="en-US" sz="1680" dirty="0"/>
          </a:p>
        </p:txBody>
      </p:sp>
      <p:sp>
        <p:nvSpPr>
          <p:cNvPr id="30" name="Shape 24"/>
          <p:cNvSpPr/>
          <p:nvPr/>
        </p:nvSpPr>
        <p:spPr>
          <a:xfrm>
            <a:off x="2986888" y="7277070"/>
            <a:ext cx="8656533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7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91081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23903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156716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73973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核心功能 03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2139330"/>
            <a:ext cx="4572000" cy="3136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128"/>
              </a:lnSpc>
              <a:buNone/>
            </a:pPr>
            <a:r>
              <a:rPr lang="en-US" sz="19200" b="1" spc="-200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</a:t>
            </a:r>
            <a:endParaRPr lang="en-US" sz="19200" dirty="0"/>
          </a:p>
        </p:txBody>
      </p:sp>
      <p:sp>
        <p:nvSpPr>
          <p:cNvPr id="9" name="Text 6"/>
          <p:cNvSpPr/>
          <p:nvPr/>
        </p:nvSpPr>
        <p:spPr>
          <a:xfrm>
            <a:off x="4743907" y="3671636"/>
            <a:ext cx="113970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48"/>
              </a:lnSpc>
              <a:buNone/>
            </a:pPr>
            <a:r>
              <a:rPr lang="en-US" sz="4224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</a:t>
            </a:r>
            <a:endParaRPr lang="en-US" sz="4224" dirty="0"/>
          </a:p>
        </p:txBody>
      </p:sp>
      <p:sp>
        <p:nvSpPr>
          <p:cNvPr id="10" name="Text 7"/>
          <p:cNvSpPr/>
          <p:nvPr/>
        </p:nvSpPr>
        <p:spPr>
          <a:xfrm>
            <a:off x="822960" y="4517630"/>
            <a:ext cx="7559070" cy="368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准实时检测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9745950" y="3066258"/>
            <a:ext cx="4061490" cy="102403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45950" y="3066258"/>
            <a:ext cx="23186" cy="1024037"/>
          </a:xfrm>
          <a:prstGeom prst="rect">
            <a:avLst/>
          </a:prstGeom>
          <a:solidFill>
            <a:srgbClr val="2FE07F">
              <a:alpha val="40000"/>
            </a:srgbClr>
          </a:solidFill>
          <a:ln w="12700">
            <a:solidFill>
              <a:srgbClr val="2FE07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20270" y="3083265"/>
            <a:ext cx="366272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调用电脑摄像头对现场画面实时 YOLO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10020270" y="3424611"/>
            <a:ext cx="383974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检测，Canvas 流光框标注缺陷，检测结</a:t>
            </a:r>
            <a:endParaRPr lang="en-US" sz="1680" dirty="0"/>
          </a:p>
        </p:txBody>
      </p:sp>
      <p:sp>
        <p:nvSpPr>
          <p:cNvPr id="15" name="Text 12"/>
          <p:cNvSpPr/>
          <p:nvPr/>
        </p:nvSpPr>
        <p:spPr>
          <a:xfrm>
            <a:off x="10020270" y="3765956"/>
            <a:ext cx="17983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果实时滚动展示。</a:t>
            </a:r>
            <a:endParaRPr lang="en-US" sz="1680" dirty="0"/>
          </a:p>
        </p:txBody>
      </p:sp>
      <p:sp>
        <p:nvSpPr>
          <p:cNvPr id="16" name="Shape 13"/>
          <p:cNvSpPr/>
          <p:nvPr/>
        </p:nvSpPr>
        <p:spPr>
          <a:xfrm>
            <a:off x="822960" y="519223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9223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1059150" y="5325374"/>
            <a:ext cx="1047354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</a:t>
            </a:r>
            <a:endParaRPr lang="en-US" sz="3840" dirty="0"/>
          </a:p>
        </p:txBody>
      </p:sp>
      <p:sp>
        <p:nvSpPr>
          <p:cNvPr id="19" name="Text 15"/>
          <p:cNvSpPr/>
          <p:nvPr/>
        </p:nvSpPr>
        <p:spPr>
          <a:xfrm>
            <a:off x="1059150" y="5922203"/>
            <a:ext cx="129685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现场画面检测</a:t>
            </a:r>
            <a:endParaRPr lang="en-US" sz="1518" dirty="0"/>
          </a:p>
        </p:txBody>
      </p:sp>
      <p:sp>
        <p:nvSpPr>
          <p:cNvPr id="20" name="Shape 16"/>
          <p:cNvSpPr/>
          <p:nvPr/>
        </p:nvSpPr>
        <p:spPr>
          <a:xfrm>
            <a:off x="5212080" y="519223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19223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2" name="Text 17"/>
          <p:cNvSpPr/>
          <p:nvPr/>
        </p:nvSpPr>
        <p:spPr>
          <a:xfrm>
            <a:off x="5448270" y="5325374"/>
            <a:ext cx="1047354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流光</a:t>
            </a:r>
            <a:endParaRPr lang="en-US" sz="3840" dirty="0"/>
          </a:p>
        </p:txBody>
      </p:sp>
      <p:sp>
        <p:nvSpPr>
          <p:cNvPr id="23" name="Text 18"/>
          <p:cNvSpPr/>
          <p:nvPr/>
        </p:nvSpPr>
        <p:spPr>
          <a:xfrm>
            <a:off x="6449995" y="5603718"/>
            <a:ext cx="48426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特效</a:t>
            </a:r>
            <a:endParaRPr lang="en-US" sz="1536" dirty="0"/>
          </a:p>
        </p:txBody>
      </p:sp>
      <p:sp>
        <p:nvSpPr>
          <p:cNvPr id="24" name="Text 19"/>
          <p:cNvSpPr/>
          <p:nvPr/>
        </p:nvSpPr>
        <p:spPr>
          <a:xfrm>
            <a:off x="5448270" y="5922203"/>
            <a:ext cx="109644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发光标注框</a:t>
            </a:r>
            <a:endParaRPr lang="en-US" sz="1518" dirty="0"/>
          </a:p>
        </p:txBody>
      </p:sp>
      <p:sp>
        <p:nvSpPr>
          <p:cNvPr id="25" name="Shape 20"/>
          <p:cNvSpPr/>
          <p:nvPr/>
        </p:nvSpPr>
        <p:spPr>
          <a:xfrm>
            <a:off x="9601200" y="519223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519223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7" name="Text 21"/>
          <p:cNvSpPr/>
          <p:nvPr/>
        </p:nvSpPr>
        <p:spPr>
          <a:xfrm>
            <a:off x="9837390" y="5325374"/>
            <a:ext cx="1047354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</a:t>
            </a:r>
            <a:endParaRPr lang="en-US" sz="3840" dirty="0"/>
          </a:p>
        </p:txBody>
      </p:sp>
      <p:sp>
        <p:nvSpPr>
          <p:cNvPr id="28" name="Text 22"/>
          <p:cNvSpPr/>
          <p:nvPr/>
        </p:nvSpPr>
        <p:spPr>
          <a:xfrm>
            <a:off x="10839115" y="5603718"/>
            <a:ext cx="48426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</a:t>
            </a:r>
            <a:endParaRPr lang="en-US" sz="1536" dirty="0"/>
          </a:p>
        </p:txBody>
      </p:sp>
      <p:sp>
        <p:nvSpPr>
          <p:cNvPr id="29" name="Text 23"/>
          <p:cNvSpPr/>
          <p:nvPr/>
        </p:nvSpPr>
        <p:spPr>
          <a:xfrm>
            <a:off x="9837390" y="5922203"/>
            <a:ext cx="129685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结果实时展示</a:t>
            </a:r>
            <a:endParaRPr lang="en-US" sz="151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73973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核心功能 04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工单闭环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022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全流程管理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107442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60" dirty="0"/>
          </a:p>
        </p:txBody>
      </p:sp>
      <p:sp>
        <p:nvSpPr>
          <p:cNvPr id="13" name="Text 9"/>
          <p:cNvSpPr/>
          <p:nvPr/>
        </p:nvSpPr>
        <p:spPr>
          <a:xfrm>
            <a:off x="1074420" y="294692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创建派发</a:t>
            </a:r>
            <a:endParaRPr lang="en-US" sz="2160" dirty="0"/>
          </a:p>
        </p:txBody>
      </p:sp>
      <p:sp>
        <p:nvSpPr>
          <p:cNvPr id="14" name="Text 10"/>
          <p:cNvSpPr/>
          <p:nvPr/>
        </p:nvSpPr>
        <p:spPr>
          <a:xfrm>
            <a:off x="1074420" y="3416930"/>
            <a:ext cx="22370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检测到缺陷，创建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74420" y="3702680"/>
            <a:ext cx="173088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工单并指派 Worker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49040" y="457437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17" name="Shape 13"/>
          <p:cNvSpPr/>
          <p:nvPr/>
        </p:nvSpPr>
        <p:spPr>
          <a:xfrm>
            <a:off x="422151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51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447297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60" dirty="0"/>
          </a:p>
        </p:txBody>
      </p:sp>
      <p:sp>
        <p:nvSpPr>
          <p:cNvPr id="20" name="Text 15"/>
          <p:cNvSpPr/>
          <p:nvPr/>
        </p:nvSpPr>
        <p:spPr>
          <a:xfrm>
            <a:off x="4472970" y="294692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接单处理</a:t>
            </a:r>
            <a:endParaRPr lang="en-US" sz="2160" dirty="0"/>
          </a:p>
        </p:txBody>
      </p:sp>
      <p:sp>
        <p:nvSpPr>
          <p:cNvPr id="21" name="Text 16"/>
          <p:cNvSpPr/>
          <p:nvPr/>
        </p:nvSpPr>
        <p:spPr>
          <a:xfrm>
            <a:off x="4472970" y="3416930"/>
            <a:ext cx="22955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确认接单，现场检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72970" y="3702680"/>
            <a:ext cx="6629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修处理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147590" y="457437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24" name="Shape 19"/>
          <p:cNvSpPr/>
          <p:nvPr/>
        </p:nvSpPr>
        <p:spPr>
          <a:xfrm>
            <a:off x="761997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7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Text 20"/>
          <p:cNvSpPr/>
          <p:nvPr/>
        </p:nvSpPr>
        <p:spPr>
          <a:xfrm>
            <a:off x="787143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760" dirty="0"/>
          </a:p>
        </p:txBody>
      </p:sp>
      <p:sp>
        <p:nvSpPr>
          <p:cNvPr id="27" name="Text 21"/>
          <p:cNvSpPr/>
          <p:nvPr/>
        </p:nvSpPr>
        <p:spPr>
          <a:xfrm>
            <a:off x="7871430" y="2946928"/>
            <a:ext cx="2187519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提交复检</a:t>
            </a:r>
            <a:endParaRPr lang="en-US" sz="2160" dirty="0"/>
          </a:p>
        </p:txBody>
      </p:sp>
      <p:sp>
        <p:nvSpPr>
          <p:cNvPr id="28" name="Text 22"/>
          <p:cNvSpPr/>
          <p:nvPr/>
        </p:nvSpPr>
        <p:spPr>
          <a:xfrm>
            <a:off x="7871430" y="3416930"/>
            <a:ext cx="2187519" cy="313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上传修复照片 + 处理备注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0546050" y="457437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40" dirty="0"/>
          </a:p>
        </p:txBody>
      </p:sp>
      <p:sp>
        <p:nvSpPr>
          <p:cNvPr id="30" name="Shape 24"/>
          <p:cNvSpPr/>
          <p:nvPr/>
        </p:nvSpPr>
        <p:spPr>
          <a:xfrm>
            <a:off x="1101852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2" name="Text 25"/>
          <p:cNvSpPr/>
          <p:nvPr/>
        </p:nvSpPr>
        <p:spPr>
          <a:xfrm>
            <a:off x="1126998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760" dirty="0"/>
          </a:p>
        </p:txBody>
      </p:sp>
      <p:sp>
        <p:nvSpPr>
          <p:cNvPr id="33" name="Text 26"/>
          <p:cNvSpPr/>
          <p:nvPr/>
        </p:nvSpPr>
        <p:spPr>
          <a:xfrm>
            <a:off x="11269980" y="294692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审核闭环</a:t>
            </a:r>
            <a:endParaRPr lang="en-US" sz="2160" dirty="0"/>
          </a:p>
        </p:txBody>
      </p:sp>
      <p:sp>
        <p:nvSpPr>
          <p:cNvPr id="34" name="Text 27"/>
          <p:cNvSpPr/>
          <p:nvPr/>
        </p:nvSpPr>
        <p:spPr>
          <a:xfrm>
            <a:off x="11269980" y="3416930"/>
            <a:ext cx="23233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并排对比原图 vs 修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1269980" y="3702680"/>
            <a:ext cx="1996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复图，同意闭环或驳回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52101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数据可视化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40406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135581" y="1040221"/>
            <a:ext cx="1948282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GIS 地图</a:t>
            </a:r>
            <a:endParaRPr lang="en-US" sz="34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70134"/>
            <a:ext cx="4727631" cy="81594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13430" y="2142165"/>
            <a:ext cx="96440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图片检测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2187519" y="2100285"/>
            <a:ext cx="51197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峰值</a:t>
            </a:r>
            <a:endParaRPr lang="en-US" sz="1584" dirty="0"/>
          </a:p>
        </p:txBody>
      </p:sp>
      <p:sp>
        <p:nvSpPr>
          <p:cNvPr id="13" name="Text 9"/>
          <p:cNvSpPr/>
          <p:nvPr/>
        </p:nvSpPr>
        <p:spPr>
          <a:xfrm>
            <a:off x="1013430" y="6396755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1607790" y="6621810"/>
            <a:ext cx="29992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56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56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908536" y="823692"/>
            <a:ext cx="4252417" cy="73337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00400" y="2100285"/>
            <a:ext cx="96440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视频分析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3200400" y="6396755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3794760" y="6621810"/>
            <a:ext cx="29992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56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56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141866" y="870052"/>
            <a:ext cx="4159697" cy="72410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87370" y="2100285"/>
            <a:ext cx="96440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缺陷预警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5387370" y="6396755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22" name="Text 16"/>
          <p:cNvSpPr/>
          <p:nvPr/>
        </p:nvSpPr>
        <p:spPr>
          <a:xfrm>
            <a:off x="5981730" y="6621810"/>
            <a:ext cx="29992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56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56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015838" y="557052"/>
            <a:ext cx="4785695" cy="76725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74250" y="2100285"/>
            <a:ext cx="96440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工单流转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7574250" y="6396755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600" dirty="0"/>
          </a:p>
        </p:txBody>
      </p:sp>
      <p:sp>
        <p:nvSpPr>
          <p:cNvPr id="26" name="Text 19"/>
          <p:cNvSpPr/>
          <p:nvPr/>
        </p:nvSpPr>
        <p:spPr>
          <a:xfrm>
            <a:off x="8168610" y="6621810"/>
            <a:ext cx="29992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56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56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970" y="209215"/>
            <a:ext cx="5481279" cy="802038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61220" y="2100285"/>
            <a:ext cx="96440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A8F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闭环完成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9761220" y="6396755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A8F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600" dirty="0"/>
          </a:p>
        </p:txBody>
      </p:sp>
      <p:sp>
        <p:nvSpPr>
          <p:cNvPr id="30" name="Text 22"/>
          <p:cNvSpPr/>
          <p:nvPr/>
        </p:nvSpPr>
        <p:spPr>
          <a:xfrm>
            <a:off x="10355580" y="6621810"/>
            <a:ext cx="29992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560" spc="-90" kern="0" dirty="0">
                <a:solidFill>
                  <a:srgbClr val="EAFFF4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56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0575127" y="742493"/>
            <a:ext cx="4055273" cy="748710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948190" y="2100285"/>
            <a:ext cx="96440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地图标记</a:t>
            </a:r>
            <a:endParaRPr lang="en-US" sz="1650" dirty="0"/>
          </a:p>
        </p:txBody>
      </p:sp>
      <p:sp>
        <p:nvSpPr>
          <p:cNvPr id="33" name="Text 24"/>
          <p:cNvSpPr/>
          <p:nvPr/>
        </p:nvSpPr>
        <p:spPr>
          <a:xfrm>
            <a:off x="11948190" y="6396755"/>
            <a:ext cx="694944" cy="614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90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600" dirty="0"/>
          </a:p>
        </p:txBody>
      </p:sp>
      <p:sp>
        <p:nvSpPr>
          <p:cNvPr id="34" name="Text 25"/>
          <p:cNvSpPr/>
          <p:nvPr/>
        </p:nvSpPr>
        <p:spPr>
          <a:xfrm>
            <a:off x="12542550" y="6621810"/>
            <a:ext cx="29992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560" spc="-90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560" dirty="0"/>
          </a:p>
        </p:txBody>
      </p:sp>
      <p:sp>
        <p:nvSpPr>
          <p:cNvPr id="35" name="Text 26"/>
          <p:cNvSpPr/>
          <p:nvPr/>
        </p:nvSpPr>
        <p:spPr>
          <a:xfrm>
            <a:off x="822960" y="7284750"/>
            <a:ext cx="3028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少</a:t>
            </a:r>
            <a:endParaRPr lang="en-US" sz="1584" dirty="0"/>
          </a:p>
        </p:txBody>
      </p:sp>
      <p:sp>
        <p:nvSpPr>
          <p:cNvPr id="36" name="Shape 27"/>
          <p:cNvSpPr/>
          <p:nvPr/>
        </p:nvSpPr>
        <p:spPr>
          <a:xfrm>
            <a:off x="1180856" y="7368510"/>
            <a:ext cx="12268688" cy="106710"/>
          </a:xfrm>
          <a:prstGeom prst="roundRect">
            <a:avLst>
              <a:gd name="adj" fmla="val 86912"/>
            </a:avLst>
          </a:prstGeom>
          <a:solidFill>
            <a:srgbClr val="2FE07F">
              <a:alpha val="85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70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13617153" y="7284750"/>
            <a:ext cx="3028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条</a:t>
            </a:r>
            <a:endParaRPr lang="en-US" sz="15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功能开关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665427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214311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开关对比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28892"/>
            <a:ext cx="948534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分析与兜底检测支持开关，下表对比各能力在四种开关组合下的可用性。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83950" y="2573853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对比维度</a:t>
            </a:r>
            <a:endParaRPr lang="en-US" sz="158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57" y="2296790"/>
            <a:ext cx="2360798" cy="6885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7295" y="2499787"/>
            <a:ext cx="1514246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 AI 分析</a:t>
            </a:r>
            <a:endParaRPr lang="en-US" sz="1920" dirty="0"/>
          </a:p>
        </p:txBody>
      </p:sp>
      <p:sp>
        <p:nvSpPr>
          <p:cNvPr id="14" name="Text 10"/>
          <p:cNvSpPr/>
          <p:nvPr/>
        </p:nvSpPr>
        <p:spPr>
          <a:xfrm>
            <a:off x="7148185" y="2499787"/>
            <a:ext cx="1514246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 AI 分析</a:t>
            </a:r>
            <a:endParaRPr lang="en-US" sz="1920" dirty="0"/>
          </a:p>
        </p:txBody>
      </p:sp>
      <p:sp>
        <p:nvSpPr>
          <p:cNvPr id="15" name="Text 11"/>
          <p:cNvSpPr/>
          <p:nvPr/>
        </p:nvSpPr>
        <p:spPr>
          <a:xfrm>
            <a:off x="9488912" y="2499787"/>
            <a:ext cx="155448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启用兜底检测</a:t>
            </a:r>
            <a:endParaRPr lang="en-US" sz="1920" dirty="0"/>
          </a:p>
        </p:txBody>
      </p:sp>
      <p:sp>
        <p:nvSpPr>
          <p:cNvPr id="16" name="Text 12"/>
          <p:cNvSpPr/>
          <p:nvPr/>
        </p:nvSpPr>
        <p:spPr>
          <a:xfrm>
            <a:off x="11849710" y="2499787"/>
            <a:ext cx="155448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关闭兜底检测</a:t>
            </a:r>
            <a:endParaRPr lang="en-US" sz="1920" dirty="0"/>
          </a:p>
        </p:txBody>
      </p:sp>
      <p:sp>
        <p:nvSpPr>
          <p:cNvPr id="17" name="Shape 13"/>
          <p:cNvSpPr/>
          <p:nvPr/>
        </p:nvSpPr>
        <p:spPr>
          <a:xfrm>
            <a:off x="822960" y="2985333"/>
            <a:ext cx="3541197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2985333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3950" y="3203966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60" dirty="0"/>
          </a:p>
        </p:txBody>
      </p:sp>
      <p:sp>
        <p:nvSpPr>
          <p:cNvPr id="20" name="Text 16"/>
          <p:cNvSpPr/>
          <p:nvPr/>
        </p:nvSpPr>
        <p:spPr>
          <a:xfrm>
            <a:off x="1325880" y="3182935"/>
            <a:ext cx="17983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自然语言诊断报告</a:t>
            </a:r>
            <a:endParaRPr lang="en-US" sz="1680" dirty="0"/>
          </a:p>
        </p:txBody>
      </p:sp>
      <p:sp>
        <p:nvSpPr>
          <p:cNvPr id="21" name="Shape 17"/>
          <p:cNvSpPr/>
          <p:nvPr/>
        </p:nvSpPr>
        <p:spPr>
          <a:xfrm>
            <a:off x="4364157" y="2985333"/>
            <a:ext cx="2360798" cy="688635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64157" y="2985333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46405" y="3135386"/>
            <a:ext cx="396210" cy="396210"/>
          </a:xfrm>
          <a:prstGeom prst="ellipse">
            <a:avLst/>
          </a:prstGeom>
          <a:solidFill>
            <a:srgbClr val="2FE07F">
              <a:alpha val="1000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61711" y="3135386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724863" y="2985333"/>
            <a:ext cx="2360889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724863" y="2985333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07112" y="3135386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811811" y="3135386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085753" y="2985333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085753" y="2985333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0068001" y="3135386"/>
            <a:ext cx="396210" cy="396210"/>
          </a:xfrm>
          <a:prstGeom prst="ellipse">
            <a:avLst/>
          </a:prstGeom>
          <a:solidFill>
            <a:srgbClr val="2FE07F">
              <a:alpha val="1000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83398" y="3135386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1446551" y="2985333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446551" y="2985333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2428799" y="3135386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2533498" y="3135386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822960" y="3674059"/>
            <a:ext cx="3541197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22960" y="3674059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83950" y="3892509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60" dirty="0"/>
          </a:p>
        </p:txBody>
      </p:sp>
      <p:sp>
        <p:nvSpPr>
          <p:cNvPr id="40" name="Text 36"/>
          <p:cNvSpPr/>
          <p:nvPr/>
        </p:nvSpPr>
        <p:spPr>
          <a:xfrm>
            <a:off x="1325880" y="3871478"/>
            <a:ext cx="137160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严重程度分级</a:t>
            </a:r>
            <a:endParaRPr lang="en-US" sz="1680" dirty="0"/>
          </a:p>
        </p:txBody>
      </p:sp>
      <p:sp>
        <p:nvSpPr>
          <p:cNvPr id="41" name="Shape 37"/>
          <p:cNvSpPr/>
          <p:nvPr/>
        </p:nvSpPr>
        <p:spPr>
          <a:xfrm>
            <a:off x="4364157" y="3674059"/>
            <a:ext cx="2360798" cy="688543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364157" y="3674059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346405" y="3823929"/>
            <a:ext cx="396210" cy="396210"/>
          </a:xfrm>
          <a:prstGeom prst="ellipse">
            <a:avLst/>
          </a:prstGeom>
          <a:solidFill>
            <a:srgbClr val="2FE07F">
              <a:alpha val="1000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61711" y="3823929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6724863" y="3674059"/>
            <a:ext cx="2360889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724863" y="3674059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707112" y="3823929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811811" y="3823929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9085753" y="3674059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085753" y="3674059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0068001" y="3823929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0151852" y="3823929"/>
            <a:ext cx="3200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A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</a:t>
            </a:r>
            <a:endParaRPr lang="en-US" sz="1800" dirty="0"/>
          </a:p>
        </p:txBody>
      </p:sp>
      <p:sp>
        <p:nvSpPr>
          <p:cNvPr id="53" name="Shape 49"/>
          <p:cNvSpPr/>
          <p:nvPr/>
        </p:nvSpPr>
        <p:spPr>
          <a:xfrm>
            <a:off x="11446551" y="3674059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1446551" y="3674059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2428799" y="3823929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12533498" y="3823929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57" name="Shape 53"/>
          <p:cNvSpPr/>
          <p:nvPr/>
        </p:nvSpPr>
        <p:spPr>
          <a:xfrm>
            <a:off x="822960" y="4362602"/>
            <a:ext cx="3541197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22960" y="4362602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83950" y="4581144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60" dirty="0"/>
          </a:p>
        </p:txBody>
      </p:sp>
      <p:sp>
        <p:nvSpPr>
          <p:cNvPr id="60" name="Text 56"/>
          <p:cNvSpPr/>
          <p:nvPr/>
        </p:nvSpPr>
        <p:spPr>
          <a:xfrm>
            <a:off x="1325880" y="4560113"/>
            <a:ext cx="201168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故障成因与维修建议</a:t>
            </a:r>
            <a:endParaRPr lang="en-US" sz="1680" dirty="0"/>
          </a:p>
        </p:txBody>
      </p:sp>
      <p:sp>
        <p:nvSpPr>
          <p:cNvPr id="61" name="Shape 57"/>
          <p:cNvSpPr/>
          <p:nvPr/>
        </p:nvSpPr>
        <p:spPr>
          <a:xfrm>
            <a:off x="4364157" y="4362602"/>
            <a:ext cx="2360798" cy="688635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364157" y="436260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346405" y="4512564"/>
            <a:ext cx="396210" cy="396210"/>
          </a:xfrm>
          <a:prstGeom prst="ellipse">
            <a:avLst/>
          </a:prstGeom>
          <a:solidFill>
            <a:srgbClr val="2FE07F">
              <a:alpha val="1000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461711" y="4512564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6724863" y="4362602"/>
            <a:ext cx="2360889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724863" y="4362602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707112" y="4512564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811811" y="4512564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69" name="Shape 65"/>
          <p:cNvSpPr/>
          <p:nvPr/>
        </p:nvSpPr>
        <p:spPr>
          <a:xfrm>
            <a:off x="9085753" y="4362602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9085753" y="436260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068001" y="4512564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151852" y="4512564"/>
            <a:ext cx="3200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A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</a:t>
            </a:r>
            <a:endParaRPr lang="en-US" sz="1800" dirty="0"/>
          </a:p>
        </p:txBody>
      </p:sp>
      <p:sp>
        <p:nvSpPr>
          <p:cNvPr id="73" name="Shape 69"/>
          <p:cNvSpPr/>
          <p:nvPr/>
        </p:nvSpPr>
        <p:spPr>
          <a:xfrm>
            <a:off x="11446551" y="4362602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1446551" y="436260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2428799" y="4512564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2533498" y="4512564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77" name="Shape 73"/>
          <p:cNvSpPr/>
          <p:nvPr/>
        </p:nvSpPr>
        <p:spPr>
          <a:xfrm>
            <a:off x="822960" y="5051237"/>
            <a:ext cx="3541197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22960" y="5051237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883950" y="5269687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60" dirty="0"/>
          </a:p>
        </p:txBody>
      </p:sp>
      <p:sp>
        <p:nvSpPr>
          <p:cNvPr id="80" name="Text 76"/>
          <p:cNvSpPr/>
          <p:nvPr/>
        </p:nvSpPr>
        <p:spPr>
          <a:xfrm>
            <a:off x="1325880" y="5248656"/>
            <a:ext cx="201597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智能预警 + 语音播报</a:t>
            </a:r>
            <a:endParaRPr lang="en-US" sz="1680" dirty="0"/>
          </a:p>
        </p:txBody>
      </p:sp>
      <p:sp>
        <p:nvSpPr>
          <p:cNvPr id="81" name="Shape 77"/>
          <p:cNvSpPr/>
          <p:nvPr/>
        </p:nvSpPr>
        <p:spPr>
          <a:xfrm>
            <a:off x="4364157" y="5051237"/>
            <a:ext cx="2360798" cy="688543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4364157" y="505123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5346405" y="5201107"/>
            <a:ext cx="396210" cy="396210"/>
          </a:xfrm>
          <a:prstGeom prst="ellipse">
            <a:avLst/>
          </a:prstGeom>
          <a:solidFill>
            <a:srgbClr val="2FE07F">
              <a:alpha val="1000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5461711" y="5201107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85" name="Shape 81"/>
          <p:cNvSpPr/>
          <p:nvPr/>
        </p:nvSpPr>
        <p:spPr>
          <a:xfrm>
            <a:off x="6724863" y="5051237"/>
            <a:ext cx="2360889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724863" y="5051237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7707112" y="5201107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790962" y="5201107"/>
            <a:ext cx="3200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A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</a:t>
            </a:r>
            <a:endParaRPr lang="en-US" sz="1800" dirty="0"/>
          </a:p>
        </p:txBody>
      </p:sp>
      <p:sp>
        <p:nvSpPr>
          <p:cNvPr id="89" name="Shape 85"/>
          <p:cNvSpPr/>
          <p:nvPr/>
        </p:nvSpPr>
        <p:spPr>
          <a:xfrm>
            <a:off x="9085753" y="5051237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9085753" y="505123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0068001" y="5201107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10151852" y="5201107"/>
            <a:ext cx="3200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A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</a:t>
            </a:r>
            <a:endParaRPr lang="en-US" sz="1800" dirty="0"/>
          </a:p>
        </p:txBody>
      </p:sp>
      <p:sp>
        <p:nvSpPr>
          <p:cNvPr id="93" name="Shape 89"/>
          <p:cNvSpPr/>
          <p:nvPr/>
        </p:nvSpPr>
        <p:spPr>
          <a:xfrm>
            <a:off x="11446551" y="5051237"/>
            <a:ext cx="2360798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11446551" y="505123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2428799" y="5201107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2533498" y="5201107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97" name="Shape 93"/>
          <p:cNvSpPr/>
          <p:nvPr/>
        </p:nvSpPr>
        <p:spPr>
          <a:xfrm>
            <a:off x="822960" y="5739780"/>
            <a:ext cx="3541197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22960" y="5739780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883950" y="5958322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60" dirty="0"/>
          </a:p>
        </p:txBody>
      </p:sp>
      <p:sp>
        <p:nvSpPr>
          <p:cNvPr id="100" name="Text 96"/>
          <p:cNvSpPr/>
          <p:nvPr/>
        </p:nvSpPr>
        <p:spPr>
          <a:xfrm>
            <a:off x="1325880" y="5937290"/>
            <a:ext cx="265605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未知异物识别（超出 8 类）</a:t>
            </a:r>
            <a:endParaRPr lang="en-US" sz="1680" dirty="0"/>
          </a:p>
        </p:txBody>
      </p:sp>
      <p:sp>
        <p:nvSpPr>
          <p:cNvPr id="101" name="Shape 97"/>
          <p:cNvSpPr/>
          <p:nvPr/>
        </p:nvSpPr>
        <p:spPr>
          <a:xfrm>
            <a:off x="4364157" y="5739780"/>
            <a:ext cx="2360798" cy="688635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364157" y="5739780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5346405" y="588974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5451013" y="5889742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105" name="Shape 101"/>
          <p:cNvSpPr/>
          <p:nvPr/>
        </p:nvSpPr>
        <p:spPr>
          <a:xfrm>
            <a:off x="6724863" y="5739780"/>
            <a:ext cx="2360889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724863" y="5739780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7707112" y="5889742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7811811" y="5889742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109" name="Shape 105"/>
          <p:cNvSpPr/>
          <p:nvPr/>
        </p:nvSpPr>
        <p:spPr>
          <a:xfrm>
            <a:off x="9085753" y="5739780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9085753" y="5739780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10068001" y="5889742"/>
            <a:ext cx="396210" cy="396210"/>
          </a:xfrm>
          <a:prstGeom prst="ellipse">
            <a:avLst/>
          </a:prstGeom>
          <a:solidFill>
            <a:srgbClr val="2FE07F">
              <a:alpha val="1000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10183398" y="5889742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113" name="Shape 109"/>
          <p:cNvSpPr/>
          <p:nvPr/>
        </p:nvSpPr>
        <p:spPr>
          <a:xfrm>
            <a:off x="11446551" y="5739780"/>
            <a:ext cx="2360798" cy="6886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446551" y="5739780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2428799" y="5889742"/>
            <a:ext cx="396210" cy="396210"/>
          </a:xfrm>
          <a:prstGeom prst="ellipse">
            <a:avLst/>
          </a:prstGeom>
          <a:solidFill>
            <a:srgbClr val="FFFFFF">
              <a:alpha val="1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12533498" y="5889742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2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800" dirty="0"/>
          </a:p>
        </p:txBody>
      </p:sp>
      <p:sp>
        <p:nvSpPr>
          <p:cNvPr id="117" name="Shape 113"/>
          <p:cNvSpPr/>
          <p:nvPr/>
        </p:nvSpPr>
        <p:spPr>
          <a:xfrm>
            <a:off x="822960" y="6428415"/>
            <a:ext cx="3541197" cy="68854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822960" y="6428415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883950" y="6646865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60" dirty="0"/>
          </a:p>
        </p:txBody>
      </p:sp>
      <p:sp>
        <p:nvSpPr>
          <p:cNvPr id="120" name="Text 116"/>
          <p:cNvSpPr/>
          <p:nvPr/>
        </p:nvSpPr>
        <p:spPr>
          <a:xfrm>
            <a:off x="1325880" y="6625834"/>
            <a:ext cx="282119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检测标注（基础能力）</a:t>
            </a:r>
            <a:endParaRPr lang="en-US" sz="1680" dirty="0"/>
          </a:p>
        </p:txBody>
      </p:sp>
      <p:pic>
        <p:nvPicPr>
          <p:cNvPr id="1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57" y="6428415"/>
            <a:ext cx="2360798" cy="688543"/>
          </a:xfrm>
          <a:prstGeom prst="rect">
            <a:avLst/>
          </a:prstGeom>
        </p:spPr>
      </p:pic>
      <p:sp>
        <p:nvSpPr>
          <p:cNvPr id="122" name="Text 117"/>
          <p:cNvSpPr/>
          <p:nvPr/>
        </p:nvSpPr>
        <p:spPr>
          <a:xfrm>
            <a:off x="5461711" y="6578285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pic>
        <p:nvPicPr>
          <p:cNvPr id="1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63" y="6428415"/>
            <a:ext cx="2360889" cy="688543"/>
          </a:xfrm>
          <a:prstGeom prst="rect">
            <a:avLst/>
          </a:prstGeom>
        </p:spPr>
      </p:pic>
      <p:sp>
        <p:nvSpPr>
          <p:cNvPr id="124" name="Text 118"/>
          <p:cNvSpPr/>
          <p:nvPr/>
        </p:nvSpPr>
        <p:spPr>
          <a:xfrm>
            <a:off x="7822509" y="6578285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pic>
        <p:nvPicPr>
          <p:cNvPr id="1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753" y="6428415"/>
            <a:ext cx="2360798" cy="688543"/>
          </a:xfrm>
          <a:prstGeom prst="rect">
            <a:avLst/>
          </a:prstGeom>
        </p:spPr>
      </p:pic>
      <p:sp>
        <p:nvSpPr>
          <p:cNvPr id="126" name="Text 119"/>
          <p:cNvSpPr/>
          <p:nvPr/>
        </p:nvSpPr>
        <p:spPr>
          <a:xfrm>
            <a:off x="10183398" y="6578285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pic>
        <p:nvPicPr>
          <p:cNvPr id="1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6551" y="6428415"/>
            <a:ext cx="2360798" cy="688543"/>
          </a:xfrm>
          <a:prstGeom prst="rect">
            <a:avLst/>
          </a:prstGeom>
        </p:spPr>
      </p:pic>
      <p:sp>
        <p:nvSpPr>
          <p:cNvPr id="128" name="Text 120"/>
          <p:cNvSpPr/>
          <p:nvPr/>
        </p:nvSpPr>
        <p:spPr>
          <a:xfrm>
            <a:off x="12544196" y="6578285"/>
            <a:ext cx="25685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129" name="Shape 121"/>
          <p:cNvSpPr/>
          <p:nvPr/>
        </p:nvSpPr>
        <p:spPr>
          <a:xfrm>
            <a:off x="822960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130" name="Text 122"/>
          <p:cNvSpPr/>
          <p:nvPr/>
        </p:nvSpPr>
        <p:spPr>
          <a:xfrm>
            <a:off x="899495" y="7284750"/>
            <a:ext cx="21268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320" dirty="0"/>
          </a:p>
        </p:txBody>
      </p:sp>
      <p:sp>
        <p:nvSpPr>
          <p:cNvPr id="131" name="Text 123"/>
          <p:cNvSpPr/>
          <p:nvPr/>
        </p:nvSpPr>
        <p:spPr>
          <a:xfrm>
            <a:off x="1188720" y="7284750"/>
            <a:ext cx="51197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支持</a:t>
            </a:r>
            <a:endParaRPr lang="en-US" sz="1584" dirty="0"/>
          </a:p>
        </p:txBody>
      </p:sp>
      <p:sp>
        <p:nvSpPr>
          <p:cNvPr id="132" name="Shape 124"/>
          <p:cNvSpPr/>
          <p:nvPr/>
        </p:nvSpPr>
        <p:spPr>
          <a:xfrm>
            <a:off x="1843430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133" name="Text 125"/>
          <p:cNvSpPr/>
          <p:nvPr/>
        </p:nvSpPr>
        <p:spPr>
          <a:xfrm>
            <a:off x="1896740" y="7284750"/>
            <a:ext cx="2590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4EA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</a:t>
            </a:r>
            <a:endParaRPr lang="en-US" sz="1320" dirty="0"/>
          </a:p>
        </p:txBody>
      </p:sp>
      <p:sp>
        <p:nvSpPr>
          <p:cNvPr id="134" name="Text 126"/>
          <p:cNvSpPr/>
          <p:nvPr/>
        </p:nvSpPr>
        <p:spPr>
          <a:xfrm>
            <a:off x="2209190" y="7284750"/>
            <a:ext cx="51197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部分</a:t>
            </a:r>
            <a:endParaRPr lang="en-US" sz="1584" dirty="0"/>
          </a:p>
        </p:txBody>
      </p:sp>
      <p:sp>
        <p:nvSpPr>
          <p:cNvPr id="135" name="Shape 127"/>
          <p:cNvSpPr/>
          <p:nvPr/>
        </p:nvSpPr>
        <p:spPr>
          <a:xfrm>
            <a:off x="2863901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6" name="Text 128"/>
          <p:cNvSpPr/>
          <p:nvPr/>
        </p:nvSpPr>
        <p:spPr>
          <a:xfrm>
            <a:off x="2932481" y="7284750"/>
            <a:ext cx="22850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>
                    <a:alpha val="3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320" dirty="0"/>
          </a:p>
        </p:txBody>
      </p:sp>
      <p:sp>
        <p:nvSpPr>
          <p:cNvPr id="137" name="Text 129"/>
          <p:cNvSpPr/>
          <p:nvPr/>
        </p:nvSpPr>
        <p:spPr>
          <a:xfrm>
            <a:off x="3229661" y="7284750"/>
            <a:ext cx="7210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不支持</a:t>
            </a:r>
            <a:endParaRPr lang="en-US" sz="15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演示案例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40406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135581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闭环演练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24995"/>
            <a:ext cx="7764628" cy="5634076"/>
          </a:xfrm>
          <a:prstGeom prst="roundRect">
            <a:avLst>
              <a:gd name="adj" fmla="val 493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4995"/>
            <a:ext cx="7764628" cy="5634076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1135410" y="2283165"/>
            <a:ext cx="167610" cy="91440"/>
          </a:xfrm>
          <a:prstGeom prst="roundRect">
            <a:avLst>
              <a:gd name="adj" fmla="val 50713"/>
            </a:avLst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379190" y="2191725"/>
            <a:ext cx="139263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单步耗时(秒)</a:t>
            </a:r>
            <a:endParaRPr lang="en-US" sz="1584" dirty="0"/>
          </a:p>
        </p:txBody>
      </p:sp>
      <p:sp>
        <p:nvSpPr>
          <p:cNvPr id="14" name="Shape 10"/>
          <p:cNvSpPr/>
          <p:nvPr/>
        </p:nvSpPr>
        <p:spPr>
          <a:xfrm>
            <a:off x="2827873" y="2317455"/>
            <a:ext cx="167610" cy="22860"/>
          </a:xfrm>
          <a:prstGeom prst="roundRect">
            <a:avLst>
              <a:gd name="adj" fmla="val 202853"/>
            </a:avLst>
          </a:prstGeom>
          <a:solidFill>
            <a:srgbClr val="FFFFFF">
              <a:alpha val="0"/>
            </a:srgbClr>
          </a:solidFill>
          <a:ln w="12700">
            <a:solidFill>
              <a:srgbClr val="4EA2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827873" y="2317455"/>
            <a:ext cx="167610" cy="34779"/>
          </a:xfrm>
          <a:prstGeom prst="rect">
            <a:avLst/>
          </a:prstGeom>
          <a:solidFill>
            <a:srgbClr val="4EA2FF"/>
          </a:solidFill>
          <a:ln w="12700">
            <a:solidFill>
              <a:srgbClr val="4EA2FF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71652" y="2191725"/>
            <a:ext cx="97438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累计(秒)</a:t>
            </a:r>
            <a:endParaRPr lang="en-US" sz="1584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410" y="2526944"/>
            <a:ext cx="7139818" cy="48415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26134" y="5924763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20" dirty="0"/>
          </a:p>
        </p:txBody>
      </p:sp>
      <p:sp>
        <p:nvSpPr>
          <p:cNvPr id="19" name="Text 14"/>
          <p:cNvSpPr/>
          <p:nvPr/>
        </p:nvSpPr>
        <p:spPr>
          <a:xfrm>
            <a:off x="2087484" y="5826008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20" dirty="0"/>
          </a:p>
        </p:txBody>
      </p:sp>
      <p:sp>
        <p:nvSpPr>
          <p:cNvPr id="20" name="Text 15"/>
          <p:cNvSpPr/>
          <p:nvPr/>
        </p:nvSpPr>
        <p:spPr>
          <a:xfrm>
            <a:off x="2694737" y="5949361"/>
            <a:ext cx="217018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20" dirty="0"/>
          </a:p>
        </p:txBody>
      </p:sp>
      <p:sp>
        <p:nvSpPr>
          <p:cNvPr id="21" name="Text 16"/>
          <p:cNvSpPr/>
          <p:nvPr/>
        </p:nvSpPr>
        <p:spPr>
          <a:xfrm>
            <a:off x="3210093" y="5826008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20" dirty="0"/>
          </a:p>
        </p:txBody>
      </p:sp>
      <p:sp>
        <p:nvSpPr>
          <p:cNvPr id="22" name="Text 17"/>
          <p:cNvSpPr/>
          <p:nvPr/>
        </p:nvSpPr>
        <p:spPr>
          <a:xfrm>
            <a:off x="3771443" y="5900075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20" dirty="0"/>
          </a:p>
        </p:txBody>
      </p:sp>
      <p:sp>
        <p:nvSpPr>
          <p:cNvPr id="23" name="Text 18"/>
          <p:cNvSpPr/>
          <p:nvPr/>
        </p:nvSpPr>
        <p:spPr>
          <a:xfrm>
            <a:off x="4286799" y="5381793"/>
            <a:ext cx="43159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320" dirty="0"/>
          </a:p>
        </p:txBody>
      </p:sp>
      <p:sp>
        <p:nvSpPr>
          <p:cNvPr id="24" name="Text 19"/>
          <p:cNvSpPr/>
          <p:nvPr/>
        </p:nvSpPr>
        <p:spPr>
          <a:xfrm>
            <a:off x="4894052" y="5677967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20" dirty="0"/>
          </a:p>
        </p:txBody>
      </p:sp>
      <p:sp>
        <p:nvSpPr>
          <p:cNvPr id="25" name="Text 20"/>
          <p:cNvSpPr/>
          <p:nvPr/>
        </p:nvSpPr>
        <p:spPr>
          <a:xfrm>
            <a:off x="5455310" y="5677967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20" dirty="0"/>
          </a:p>
        </p:txBody>
      </p:sp>
      <p:sp>
        <p:nvSpPr>
          <p:cNvPr id="26" name="Text 21"/>
          <p:cNvSpPr/>
          <p:nvPr/>
        </p:nvSpPr>
        <p:spPr>
          <a:xfrm>
            <a:off x="6016661" y="5900075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20" dirty="0"/>
          </a:p>
        </p:txBody>
      </p:sp>
      <p:sp>
        <p:nvSpPr>
          <p:cNvPr id="27" name="Text 22"/>
          <p:cNvSpPr/>
          <p:nvPr/>
        </p:nvSpPr>
        <p:spPr>
          <a:xfrm>
            <a:off x="6577919" y="5900075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20" dirty="0"/>
          </a:p>
        </p:txBody>
      </p:sp>
      <p:sp>
        <p:nvSpPr>
          <p:cNvPr id="28" name="Text 23"/>
          <p:cNvSpPr/>
          <p:nvPr/>
        </p:nvSpPr>
        <p:spPr>
          <a:xfrm>
            <a:off x="7139269" y="5677967"/>
            <a:ext cx="32430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20" dirty="0"/>
          </a:p>
        </p:txBody>
      </p:sp>
      <p:sp>
        <p:nvSpPr>
          <p:cNvPr id="29" name="Text 24"/>
          <p:cNvSpPr/>
          <p:nvPr/>
        </p:nvSpPr>
        <p:spPr>
          <a:xfrm>
            <a:off x="7654625" y="3605022"/>
            <a:ext cx="431597" cy="2244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</a:t>
            </a:r>
            <a:endParaRPr lang="en-US" sz="1320" dirty="0"/>
          </a:p>
        </p:txBody>
      </p:sp>
      <p:sp>
        <p:nvSpPr>
          <p:cNvPr id="30" name="Text 25"/>
          <p:cNvSpPr/>
          <p:nvPr/>
        </p:nvSpPr>
        <p:spPr>
          <a:xfrm>
            <a:off x="1490198" y="6506047"/>
            <a:ext cx="415503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登录</a:t>
            </a:r>
            <a:endParaRPr lang="en-US" sz="1254" dirty="0"/>
          </a:p>
        </p:txBody>
      </p:sp>
      <p:sp>
        <p:nvSpPr>
          <p:cNvPr id="31" name="Text 26"/>
          <p:cNvSpPr/>
          <p:nvPr/>
        </p:nvSpPr>
        <p:spPr>
          <a:xfrm>
            <a:off x="1923623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图片检测</a:t>
            </a:r>
            <a:endParaRPr lang="en-US" sz="1254" dirty="0"/>
          </a:p>
        </p:txBody>
      </p:sp>
      <p:sp>
        <p:nvSpPr>
          <p:cNvPr id="32" name="Text 27"/>
          <p:cNvSpPr/>
          <p:nvPr/>
        </p:nvSpPr>
        <p:spPr>
          <a:xfrm>
            <a:off x="2483876" y="6506047"/>
            <a:ext cx="670316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研判</a:t>
            </a:r>
            <a:endParaRPr lang="en-US" sz="1254" dirty="0"/>
          </a:p>
        </p:txBody>
      </p:sp>
      <p:sp>
        <p:nvSpPr>
          <p:cNvPr id="33" name="Text 28"/>
          <p:cNvSpPr/>
          <p:nvPr/>
        </p:nvSpPr>
        <p:spPr>
          <a:xfrm>
            <a:off x="3046232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派发工单</a:t>
            </a:r>
            <a:endParaRPr lang="en-US" sz="1254" dirty="0"/>
          </a:p>
        </p:txBody>
      </p:sp>
      <p:sp>
        <p:nvSpPr>
          <p:cNvPr id="34" name="Text 29"/>
          <p:cNvSpPr/>
          <p:nvPr/>
        </p:nvSpPr>
        <p:spPr>
          <a:xfrm>
            <a:off x="3607582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接收工单</a:t>
            </a:r>
            <a:endParaRPr lang="en-US" sz="1254" dirty="0"/>
          </a:p>
        </p:txBody>
      </p:sp>
      <p:sp>
        <p:nvSpPr>
          <p:cNvPr id="35" name="Text 30"/>
          <p:cNvSpPr/>
          <p:nvPr/>
        </p:nvSpPr>
        <p:spPr>
          <a:xfrm>
            <a:off x="4168841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现场处理</a:t>
            </a:r>
            <a:endParaRPr lang="en-US" sz="1254" dirty="0"/>
          </a:p>
        </p:txBody>
      </p:sp>
      <p:sp>
        <p:nvSpPr>
          <p:cNvPr id="36" name="Text 31"/>
          <p:cNvSpPr/>
          <p:nvPr/>
        </p:nvSpPr>
        <p:spPr>
          <a:xfrm>
            <a:off x="4730191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提交复检</a:t>
            </a:r>
            <a:endParaRPr lang="en-US" sz="1254" dirty="0"/>
          </a:p>
        </p:txBody>
      </p:sp>
      <p:sp>
        <p:nvSpPr>
          <p:cNvPr id="37" name="Text 32"/>
          <p:cNvSpPr/>
          <p:nvPr/>
        </p:nvSpPr>
        <p:spPr>
          <a:xfrm>
            <a:off x="5291450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审核闭环</a:t>
            </a:r>
            <a:endParaRPr lang="en-US" sz="1254" dirty="0"/>
          </a:p>
        </p:txBody>
      </p:sp>
      <p:sp>
        <p:nvSpPr>
          <p:cNvPr id="38" name="Text 33"/>
          <p:cNvSpPr/>
          <p:nvPr/>
        </p:nvSpPr>
        <p:spPr>
          <a:xfrm>
            <a:off x="5852800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导出报告</a:t>
            </a:r>
            <a:endParaRPr lang="en-US" sz="1254" dirty="0"/>
          </a:p>
        </p:txBody>
      </p:sp>
      <p:sp>
        <p:nvSpPr>
          <p:cNvPr id="39" name="Text 34"/>
          <p:cNvSpPr/>
          <p:nvPr/>
        </p:nvSpPr>
        <p:spPr>
          <a:xfrm>
            <a:off x="6414059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仪表查看</a:t>
            </a:r>
            <a:endParaRPr lang="en-US" sz="1254" dirty="0"/>
          </a:p>
        </p:txBody>
      </p:sp>
      <p:sp>
        <p:nvSpPr>
          <p:cNvPr id="40" name="Text 35"/>
          <p:cNvSpPr/>
          <p:nvPr/>
        </p:nvSpPr>
        <p:spPr>
          <a:xfrm>
            <a:off x="7113666" y="6506047"/>
            <a:ext cx="401170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Q&amp;A</a:t>
            </a:r>
            <a:endParaRPr lang="en-US" sz="1254" dirty="0"/>
          </a:p>
        </p:txBody>
      </p:sp>
      <p:sp>
        <p:nvSpPr>
          <p:cNvPr id="41" name="Text 36"/>
          <p:cNvSpPr/>
          <p:nvPr/>
        </p:nvSpPr>
        <p:spPr>
          <a:xfrm>
            <a:off x="7536668" y="6506047"/>
            <a:ext cx="72127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dirty="0">
                <a:solidFill>
                  <a:srgbClr val="EE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全程演示</a:t>
            </a:r>
            <a:endParaRPr lang="en-US" sz="1254" dirty="0"/>
          </a:p>
        </p:txBody>
      </p:sp>
      <p:sp>
        <p:nvSpPr>
          <p:cNvPr id="42" name="Shape 37"/>
          <p:cNvSpPr/>
          <p:nvPr/>
        </p:nvSpPr>
        <p:spPr>
          <a:xfrm>
            <a:off x="9014338" y="1924995"/>
            <a:ext cx="4793102" cy="891540"/>
          </a:xfrm>
          <a:prstGeom prst="roundRect">
            <a:avLst>
              <a:gd name="adj" fmla="val 3120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338" y="1924995"/>
            <a:ext cx="4793102" cy="89154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44" name="Text 38"/>
          <p:cNvSpPr/>
          <p:nvPr/>
        </p:nvSpPr>
        <p:spPr>
          <a:xfrm>
            <a:off x="9235349" y="2124633"/>
            <a:ext cx="655930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360" dirty="0"/>
          </a:p>
        </p:txBody>
      </p:sp>
      <p:sp>
        <p:nvSpPr>
          <p:cNvPr id="45" name="Text 39"/>
          <p:cNvSpPr/>
          <p:nvPr/>
        </p:nvSpPr>
        <p:spPr>
          <a:xfrm>
            <a:off x="9825502" y="2336475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</a:t>
            </a:r>
            <a:endParaRPr lang="en-US" sz="1440" dirty="0"/>
          </a:p>
        </p:txBody>
      </p:sp>
      <p:sp>
        <p:nvSpPr>
          <p:cNvPr id="46" name="Text 40"/>
          <p:cNvSpPr/>
          <p:nvPr/>
        </p:nvSpPr>
        <p:spPr>
          <a:xfrm>
            <a:off x="12447087" y="2313615"/>
            <a:ext cx="113934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发现到派发</a:t>
            </a:r>
            <a:endParaRPr lang="en-US" sz="1584" dirty="0"/>
          </a:p>
        </p:txBody>
      </p:sp>
      <p:sp>
        <p:nvSpPr>
          <p:cNvPr id="47" name="Shape 41"/>
          <p:cNvSpPr/>
          <p:nvPr/>
        </p:nvSpPr>
        <p:spPr>
          <a:xfrm>
            <a:off x="9014338" y="2953695"/>
            <a:ext cx="4793102" cy="891540"/>
          </a:xfrm>
          <a:prstGeom prst="roundRect">
            <a:avLst>
              <a:gd name="adj" fmla="val 3120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338" y="2953695"/>
            <a:ext cx="4793102" cy="89154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49" name="Text 42"/>
          <p:cNvSpPr/>
          <p:nvPr/>
        </p:nvSpPr>
        <p:spPr>
          <a:xfrm>
            <a:off x="9235349" y="3153333"/>
            <a:ext cx="890626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</a:t>
            </a:r>
            <a:endParaRPr lang="en-US" sz="3360" dirty="0"/>
          </a:p>
        </p:txBody>
      </p:sp>
      <p:sp>
        <p:nvSpPr>
          <p:cNvPr id="50" name="Text 43"/>
          <p:cNvSpPr/>
          <p:nvPr/>
        </p:nvSpPr>
        <p:spPr>
          <a:xfrm>
            <a:off x="10012314" y="3365175"/>
            <a:ext cx="46085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en-US" sz="1440" dirty="0"/>
          </a:p>
        </p:txBody>
      </p:sp>
      <p:sp>
        <p:nvSpPr>
          <p:cNvPr id="51" name="Text 44"/>
          <p:cNvSpPr/>
          <p:nvPr/>
        </p:nvSpPr>
        <p:spPr>
          <a:xfrm>
            <a:off x="12656210" y="3342315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演示全程</a:t>
            </a:r>
            <a:endParaRPr lang="en-US" sz="1584" dirty="0"/>
          </a:p>
        </p:txBody>
      </p:sp>
      <p:sp>
        <p:nvSpPr>
          <p:cNvPr id="52" name="Shape 45"/>
          <p:cNvSpPr/>
          <p:nvPr/>
        </p:nvSpPr>
        <p:spPr>
          <a:xfrm>
            <a:off x="9014338" y="3982395"/>
            <a:ext cx="4793102" cy="891540"/>
          </a:xfrm>
          <a:prstGeom prst="roundRect">
            <a:avLst>
              <a:gd name="adj" fmla="val 3120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4338" y="3982395"/>
            <a:ext cx="4793102" cy="89154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54" name="Text 46"/>
          <p:cNvSpPr/>
          <p:nvPr/>
        </p:nvSpPr>
        <p:spPr>
          <a:xfrm>
            <a:off x="9235349" y="4182033"/>
            <a:ext cx="655930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360" dirty="0"/>
          </a:p>
        </p:txBody>
      </p:sp>
      <p:sp>
        <p:nvSpPr>
          <p:cNvPr id="55" name="Text 47"/>
          <p:cNvSpPr/>
          <p:nvPr/>
        </p:nvSpPr>
        <p:spPr>
          <a:xfrm>
            <a:off x="9825502" y="4393875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</a:t>
            </a:r>
            <a:endParaRPr lang="en-US" sz="1440" dirty="0"/>
          </a:p>
        </p:txBody>
      </p:sp>
      <p:sp>
        <p:nvSpPr>
          <p:cNvPr id="56" name="Text 48"/>
          <p:cNvSpPr/>
          <p:nvPr/>
        </p:nvSpPr>
        <p:spPr>
          <a:xfrm>
            <a:off x="12656210" y="4371015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闭环提速</a:t>
            </a:r>
            <a:endParaRPr lang="en-US" sz="1584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584" y="3580882"/>
            <a:ext cx="7076816" cy="464871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9250528" y="5779191"/>
            <a:ext cx="97822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4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关键结论</a:t>
            </a:r>
            <a:endParaRPr lang="en-US" sz="1584" dirty="0"/>
          </a:p>
        </p:txBody>
      </p:sp>
      <p:sp>
        <p:nvSpPr>
          <p:cNvPr id="59" name="Text 50"/>
          <p:cNvSpPr/>
          <p:nvPr/>
        </p:nvSpPr>
        <p:spPr>
          <a:xfrm>
            <a:off x="9250528" y="6169639"/>
            <a:ext cx="3983035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4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演示全程约 5-8 分钟；发现到派发仅需 30</a:t>
            </a:r>
            <a:endParaRPr lang="en-US" sz="1680" dirty="0"/>
          </a:p>
        </p:txBody>
      </p:sp>
      <p:sp>
        <p:nvSpPr>
          <p:cNvPr id="60" name="Text 51"/>
          <p:cNvSpPr/>
          <p:nvPr/>
        </p:nvSpPr>
        <p:spPr>
          <a:xfrm>
            <a:off x="9250528" y="6500287"/>
            <a:ext cx="51937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4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秒。</a:t>
            </a:r>
            <a:endParaRPr lang="en-US" sz="1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核心价值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546927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2219706"/>
            <a:ext cx="153837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传统闭环周期</a:t>
            </a:r>
            <a:endParaRPr lang="en-US" sz="1716" dirty="0"/>
          </a:p>
        </p:txBody>
      </p:sp>
      <p:sp>
        <p:nvSpPr>
          <p:cNvPr id="9" name="Text 6"/>
          <p:cNvSpPr/>
          <p:nvPr/>
        </p:nvSpPr>
        <p:spPr>
          <a:xfrm>
            <a:off x="822960" y="2479948"/>
            <a:ext cx="3316986" cy="22601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316"/>
              </a:lnSpc>
              <a:buNone/>
            </a:pPr>
            <a:r>
              <a:rPr lang="en-US" sz="13800" b="1" spc="-200" kern="0" dirty="0">
                <a:solidFill>
                  <a:srgbClr val="EEF3F1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</a:t>
            </a:r>
            <a:endParaRPr lang="en-US" sz="13800" dirty="0"/>
          </a:p>
        </p:txBody>
      </p:sp>
      <p:sp>
        <p:nvSpPr>
          <p:cNvPr id="10" name="Text 7"/>
          <p:cNvSpPr/>
          <p:nvPr/>
        </p:nvSpPr>
        <p:spPr>
          <a:xfrm>
            <a:off x="3644981" y="3532327"/>
            <a:ext cx="513527" cy="560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16"/>
              </a:lnSpc>
              <a:buNone/>
            </a:pPr>
            <a:r>
              <a:rPr lang="en-US" sz="3312" dirty="0">
                <a:solidFill>
                  <a:srgbClr val="EEF3F1">
                    <a:alpha val="3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</a:t>
            </a:r>
            <a:endParaRPr lang="en-US" sz="3312" dirty="0"/>
          </a:p>
        </p:txBody>
      </p:sp>
      <p:sp>
        <p:nvSpPr>
          <p:cNvPr id="11" name="Shape 8"/>
          <p:cNvSpPr/>
          <p:nvPr/>
        </p:nvSpPr>
        <p:spPr>
          <a:xfrm>
            <a:off x="6964528" y="2328611"/>
            <a:ext cx="701070" cy="70107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2FE07F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528" y="2328611"/>
            <a:ext cx="701070" cy="701070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07090B">
                <a:alpha val="70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7124548" y="2429469"/>
            <a:ext cx="472470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2FE0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934901" y="3126378"/>
            <a:ext cx="733958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840" b="1" spc="-96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840" dirty="0"/>
          </a:p>
        </p:txBody>
      </p:sp>
      <p:sp>
        <p:nvSpPr>
          <p:cNvPr id="15" name="Text 11"/>
          <p:cNvSpPr/>
          <p:nvPr/>
        </p:nvSpPr>
        <p:spPr>
          <a:xfrm>
            <a:off x="7520208" y="3342041"/>
            <a:ext cx="26654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20" b="1" spc="-96" kern="0" dirty="0">
                <a:solidFill>
                  <a:srgbClr val="5D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920" dirty="0"/>
          </a:p>
        </p:txBody>
      </p:sp>
      <p:sp>
        <p:nvSpPr>
          <p:cNvPr id="16" name="Text 12"/>
          <p:cNvSpPr/>
          <p:nvPr/>
        </p:nvSpPr>
        <p:spPr>
          <a:xfrm>
            <a:off x="6950537" y="3684941"/>
            <a:ext cx="89603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效率提升</a:t>
            </a:r>
            <a:endParaRPr lang="en-US" sz="1518" dirty="0"/>
          </a:p>
        </p:txBody>
      </p:sp>
      <p:sp>
        <p:nvSpPr>
          <p:cNvPr id="17" name="Text 13"/>
          <p:cNvSpPr/>
          <p:nvPr/>
        </p:nvSpPr>
        <p:spPr>
          <a:xfrm>
            <a:off x="12512954" y="2219706"/>
            <a:ext cx="1294486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本系统闭环</a:t>
            </a:r>
            <a:endParaRPr lang="en-US" sz="1716" dirty="0"/>
          </a:p>
        </p:txBody>
      </p:sp>
      <p:sp>
        <p:nvSpPr>
          <p:cNvPr id="18" name="Text 14"/>
          <p:cNvSpPr/>
          <p:nvPr/>
        </p:nvSpPr>
        <p:spPr>
          <a:xfrm>
            <a:off x="11082437" y="2323660"/>
            <a:ext cx="1792224" cy="22601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316"/>
              </a:lnSpc>
              <a:buNone/>
            </a:pPr>
            <a:r>
              <a:rPr lang="en-US" sz="13800" b="1" spc="-200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13800" dirty="0"/>
          </a:p>
        </p:txBody>
      </p:sp>
      <p:sp>
        <p:nvSpPr>
          <p:cNvPr id="19" name="Text 15"/>
          <p:cNvSpPr/>
          <p:nvPr/>
        </p:nvSpPr>
        <p:spPr>
          <a:xfrm>
            <a:off x="12874661" y="3532327"/>
            <a:ext cx="932779" cy="560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716"/>
              </a:lnSpc>
              <a:buNone/>
            </a:pPr>
            <a:r>
              <a:rPr lang="en-US" sz="3312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</a:t>
            </a:r>
            <a:endParaRPr lang="en-US" sz="3312" dirty="0"/>
          </a:p>
        </p:txBody>
      </p:sp>
      <p:sp>
        <p:nvSpPr>
          <p:cNvPr id="20" name="Text 16"/>
          <p:cNvSpPr/>
          <p:nvPr/>
        </p:nvSpPr>
        <p:spPr>
          <a:xfrm>
            <a:off x="822960" y="4481932"/>
            <a:ext cx="1070460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从发现缺陷到闭环全程数字化留痕，传统需 3-5 天，本系统数小时内完成。</a:t>
            </a:r>
            <a:endParaRPr lang="en-US" sz="1920" dirty="0"/>
          </a:p>
        </p:txBody>
      </p:sp>
      <p:sp>
        <p:nvSpPr>
          <p:cNvPr id="21" name="Shape 17"/>
          <p:cNvSpPr/>
          <p:nvPr/>
        </p:nvSpPr>
        <p:spPr>
          <a:xfrm>
            <a:off x="822960" y="527224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7224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3" name="Text 18"/>
          <p:cNvSpPr/>
          <p:nvPr/>
        </p:nvSpPr>
        <p:spPr>
          <a:xfrm>
            <a:off x="1074420" y="5422253"/>
            <a:ext cx="733958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840" dirty="0"/>
          </a:p>
        </p:txBody>
      </p:sp>
      <p:sp>
        <p:nvSpPr>
          <p:cNvPr id="24" name="Text 19"/>
          <p:cNvSpPr/>
          <p:nvPr/>
        </p:nvSpPr>
        <p:spPr>
          <a:xfrm>
            <a:off x="1705447" y="5683728"/>
            <a:ext cx="29699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</a:t>
            </a:r>
            <a:endParaRPr lang="en-US" sz="1536" dirty="0"/>
          </a:p>
        </p:txBody>
      </p:sp>
      <p:sp>
        <p:nvSpPr>
          <p:cNvPr id="25" name="Text 20"/>
          <p:cNvSpPr/>
          <p:nvPr/>
        </p:nvSpPr>
        <p:spPr>
          <a:xfrm>
            <a:off x="1074420" y="6002213"/>
            <a:ext cx="109644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发现到派发</a:t>
            </a:r>
            <a:endParaRPr lang="en-US" sz="1518" dirty="0"/>
          </a:p>
        </p:txBody>
      </p:sp>
      <p:sp>
        <p:nvSpPr>
          <p:cNvPr id="26" name="Shape 21"/>
          <p:cNvSpPr/>
          <p:nvPr/>
        </p:nvSpPr>
        <p:spPr>
          <a:xfrm>
            <a:off x="5212080" y="527224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527224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8" name="Text 22"/>
          <p:cNvSpPr/>
          <p:nvPr/>
        </p:nvSpPr>
        <p:spPr>
          <a:xfrm>
            <a:off x="5463540" y="5405384"/>
            <a:ext cx="1047354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</a:t>
            </a:r>
            <a:endParaRPr lang="en-US" sz="3840" dirty="0"/>
          </a:p>
        </p:txBody>
      </p:sp>
      <p:sp>
        <p:nvSpPr>
          <p:cNvPr id="29" name="Text 23"/>
          <p:cNvSpPr/>
          <p:nvPr/>
        </p:nvSpPr>
        <p:spPr>
          <a:xfrm>
            <a:off x="6465174" y="5683728"/>
            <a:ext cx="48426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留痕</a:t>
            </a:r>
            <a:endParaRPr lang="en-US" sz="1536" dirty="0"/>
          </a:p>
        </p:txBody>
      </p:sp>
      <p:sp>
        <p:nvSpPr>
          <p:cNvPr id="30" name="Text 24"/>
          <p:cNvSpPr/>
          <p:nvPr/>
        </p:nvSpPr>
        <p:spPr>
          <a:xfrm>
            <a:off x="5463540" y="6002213"/>
            <a:ext cx="149726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操作日志可追溯</a:t>
            </a:r>
            <a:endParaRPr lang="en-US" sz="1518" dirty="0"/>
          </a:p>
        </p:txBody>
      </p:sp>
      <p:sp>
        <p:nvSpPr>
          <p:cNvPr id="31" name="Shape 25"/>
          <p:cNvSpPr/>
          <p:nvPr/>
        </p:nvSpPr>
        <p:spPr>
          <a:xfrm>
            <a:off x="9601200" y="527224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527224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3" name="Text 26"/>
          <p:cNvSpPr/>
          <p:nvPr/>
        </p:nvSpPr>
        <p:spPr>
          <a:xfrm>
            <a:off x="9852660" y="5422253"/>
            <a:ext cx="421843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40" dirty="0"/>
          </a:p>
        </p:txBody>
      </p:sp>
      <p:sp>
        <p:nvSpPr>
          <p:cNvPr id="34" name="Text 27"/>
          <p:cNvSpPr/>
          <p:nvPr/>
        </p:nvSpPr>
        <p:spPr>
          <a:xfrm>
            <a:off x="10191079" y="5683728"/>
            <a:ext cx="48426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</a:t>
            </a:r>
            <a:endParaRPr lang="en-US" sz="1536" dirty="0"/>
          </a:p>
        </p:txBody>
      </p:sp>
      <p:sp>
        <p:nvSpPr>
          <p:cNvPr id="35" name="Text 28"/>
          <p:cNvSpPr/>
          <p:nvPr/>
        </p:nvSpPr>
        <p:spPr>
          <a:xfrm>
            <a:off x="9852660" y="6002213"/>
            <a:ext cx="129685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告别纸质表格</a:t>
            </a:r>
            <a:endParaRPr lang="en-US" sz="151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396746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396746"/>
            <a:ext cx="119786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技术亮点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822960" y="2181576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70" dirty="0"/>
          </a:p>
        </p:txBody>
      </p:sp>
      <p:sp>
        <p:nvSpPr>
          <p:cNvPr id="8" name="Text 5"/>
          <p:cNvSpPr/>
          <p:nvPr/>
        </p:nvSpPr>
        <p:spPr>
          <a:xfrm>
            <a:off x="1752630" y="2234885"/>
            <a:ext cx="771647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</a:t>
            </a:r>
            <a:endParaRPr lang="en-US" sz="1716" dirty="0"/>
          </a:p>
        </p:txBody>
      </p:sp>
      <p:sp>
        <p:nvSpPr>
          <p:cNvPr id="9" name="Text 6"/>
          <p:cNvSpPr/>
          <p:nvPr/>
        </p:nvSpPr>
        <p:spPr>
          <a:xfrm>
            <a:off x="1752630" y="2580483"/>
            <a:ext cx="2445197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目标检测引擎</a:t>
            </a:r>
            <a:endParaRPr lang="en-US" sz="3120" dirty="0"/>
          </a:p>
        </p:txBody>
      </p:sp>
      <p:sp>
        <p:nvSpPr>
          <p:cNvPr id="10" name="Text 7"/>
          <p:cNvSpPr/>
          <p:nvPr/>
        </p:nvSpPr>
        <p:spPr>
          <a:xfrm>
            <a:off x="4106388" y="2580483"/>
            <a:ext cx="870509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</a:t>
            </a:r>
            <a:endParaRPr lang="en-US" sz="3120" dirty="0"/>
          </a:p>
        </p:txBody>
      </p:sp>
      <p:sp>
        <p:nvSpPr>
          <p:cNvPr id="11" name="Text 8"/>
          <p:cNvSpPr/>
          <p:nvPr/>
        </p:nvSpPr>
        <p:spPr>
          <a:xfrm>
            <a:off x="4814042" y="2580483"/>
            <a:ext cx="3229661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线路目标实时识别</a:t>
            </a:r>
            <a:endParaRPr lang="en-US" sz="3120" dirty="0"/>
          </a:p>
        </p:txBody>
      </p:sp>
      <p:sp>
        <p:nvSpPr>
          <p:cNvPr id="12" name="Shape 9"/>
          <p:cNvSpPr/>
          <p:nvPr/>
        </p:nvSpPr>
        <p:spPr>
          <a:xfrm>
            <a:off x="822960" y="3366272"/>
            <a:ext cx="11887200" cy="139802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366272"/>
            <a:ext cx="1188720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579602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70" dirty="0"/>
          </a:p>
        </p:txBody>
      </p:sp>
      <p:sp>
        <p:nvSpPr>
          <p:cNvPr id="15" name="Text 12"/>
          <p:cNvSpPr/>
          <p:nvPr/>
        </p:nvSpPr>
        <p:spPr>
          <a:xfrm>
            <a:off x="1752630" y="3632911"/>
            <a:ext cx="1389781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Qwen3-VL</a:t>
            </a:r>
            <a:endParaRPr lang="en-US" sz="1716" dirty="0"/>
          </a:p>
        </p:txBody>
      </p:sp>
      <p:sp>
        <p:nvSpPr>
          <p:cNvPr id="16" name="Text 13"/>
          <p:cNvSpPr/>
          <p:nvPr/>
        </p:nvSpPr>
        <p:spPr>
          <a:xfrm>
            <a:off x="1752630" y="3978509"/>
            <a:ext cx="2445197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3120" dirty="0"/>
          </a:p>
        </p:txBody>
      </p:sp>
      <p:sp>
        <p:nvSpPr>
          <p:cNvPr id="17" name="Text 14"/>
          <p:cNvSpPr/>
          <p:nvPr/>
        </p:nvSpPr>
        <p:spPr>
          <a:xfrm>
            <a:off x="4106388" y="3978509"/>
            <a:ext cx="1268364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语义级</a:t>
            </a:r>
            <a:endParaRPr lang="en-US" sz="3120" dirty="0"/>
          </a:p>
        </p:txBody>
      </p:sp>
      <p:sp>
        <p:nvSpPr>
          <p:cNvPr id="18" name="Text 15"/>
          <p:cNvSpPr/>
          <p:nvPr/>
        </p:nvSpPr>
        <p:spPr>
          <a:xfrm>
            <a:off x="5283312" y="3978509"/>
            <a:ext cx="3622030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深度分析与成因推断</a:t>
            </a:r>
            <a:endParaRPr lang="en-US" sz="3120" dirty="0"/>
          </a:p>
        </p:txBody>
      </p:sp>
      <p:sp>
        <p:nvSpPr>
          <p:cNvPr id="19" name="Shape 16"/>
          <p:cNvSpPr/>
          <p:nvPr/>
        </p:nvSpPr>
        <p:spPr>
          <a:xfrm>
            <a:off x="822960" y="4764298"/>
            <a:ext cx="11887200" cy="139802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764298"/>
            <a:ext cx="1188720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977628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70" dirty="0"/>
          </a:p>
        </p:txBody>
      </p:sp>
      <p:sp>
        <p:nvSpPr>
          <p:cNvPr id="22" name="Text 19"/>
          <p:cNvSpPr/>
          <p:nvPr/>
        </p:nvSpPr>
        <p:spPr>
          <a:xfrm>
            <a:off x="1752630" y="5031029"/>
            <a:ext cx="806714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双引擎</a:t>
            </a:r>
            <a:endParaRPr lang="en-US" sz="1716" dirty="0"/>
          </a:p>
        </p:txBody>
      </p:sp>
      <p:sp>
        <p:nvSpPr>
          <p:cNvPr id="23" name="Text 20"/>
          <p:cNvSpPr/>
          <p:nvPr/>
        </p:nvSpPr>
        <p:spPr>
          <a:xfrm>
            <a:off x="1752630" y="5376535"/>
            <a:ext cx="3243986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+ 大模型协同</a:t>
            </a:r>
            <a:endParaRPr lang="en-US" sz="3120" dirty="0"/>
          </a:p>
        </p:txBody>
      </p:sp>
      <p:sp>
        <p:nvSpPr>
          <p:cNvPr id="24" name="Text 21"/>
          <p:cNvSpPr/>
          <p:nvPr/>
        </p:nvSpPr>
        <p:spPr>
          <a:xfrm>
            <a:off x="4899995" y="5376535"/>
            <a:ext cx="2610002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 + AI 判</a:t>
            </a:r>
            <a:endParaRPr lang="en-US" sz="3120" dirty="0"/>
          </a:p>
        </p:txBody>
      </p:sp>
      <p:sp>
        <p:nvSpPr>
          <p:cNvPr id="25" name="Text 22"/>
          <p:cNvSpPr/>
          <p:nvPr/>
        </p:nvSpPr>
        <p:spPr>
          <a:xfrm>
            <a:off x="7011619" y="5376535"/>
            <a:ext cx="3229661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预警与闭环一体化</a:t>
            </a:r>
            <a:endParaRPr lang="en-US" sz="3120" dirty="0"/>
          </a:p>
        </p:txBody>
      </p:sp>
      <p:sp>
        <p:nvSpPr>
          <p:cNvPr id="26" name="Shape 23"/>
          <p:cNvSpPr/>
          <p:nvPr/>
        </p:nvSpPr>
        <p:spPr>
          <a:xfrm>
            <a:off x="822960" y="6638544"/>
            <a:ext cx="487650" cy="2286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463040" y="6469289"/>
            <a:ext cx="6287414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12" spc="48" kern="0" dirty="0">
                <a:solidFill>
                  <a:srgbClr val="EEF3F1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技术栈: PyTorch · FastAPI · SQLite/MySQL</a:t>
            </a:r>
            <a:endParaRPr lang="en-US" sz="211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谢谢观看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0773278" y="670530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944004"/>
            <a:ext cx="612648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7200" dirty="0">
                <a:solidFill>
                  <a:srgbClr val="2FE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22960" y="1860393"/>
            <a:ext cx="3803081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让巡检更智能</a:t>
            </a:r>
            <a:endParaRPr lang="en-US" sz="4920" dirty="0"/>
          </a:p>
        </p:txBody>
      </p:sp>
      <p:sp>
        <p:nvSpPr>
          <p:cNvPr id="10" name="Text 7"/>
          <p:cNvSpPr/>
          <p:nvPr/>
        </p:nvSpPr>
        <p:spPr>
          <a:xfrm>
            <a:off x="4534601" y="1860393"/>
            <a:ext cx="2565898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920" dirty="0"/>
          </a:p>
        </p:txBody>
      </p:sp>
      <p:sp>
        <p:nvSpPr>
          <p:cNvPr id="11" name="Shape 8"/>
          <p:cNvSpPr/>
          <p:nvPr/>
        </p:nvSpPr>
        <p:spPr>
          <a:xfrm>
            <a:off x="822960" y="2909529"/>
            <a:ext cx="1066830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12700" dir="16200000">
              <a:srgbClr val="2FE07F">
                <a:alpha val="7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201314"/>
            <a:ext cx="564486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欢迎各位专家评委提问与指导，期待与您深入交流。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822960" y="3962918"/>
            <a:ext cx="329184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电力输电线路智能巡检平台项目组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4190970" y="3999220"/>
            <a:ext cx="10888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2026.08</a:t>
            </a:r>
            <a:endParaRPr lang="en-US" sz="1584" dirty="0"/>
          </a:p>
        </p:txBody>
      </p:sp>
      <p:sp>
        <p:nvSpPr>
          <p:cNvPr id="15" name="Shape 12"/>
          <p:cNvSpPr/>
          <p:nvPr/>
        </p:nvSpPr>
        <p:spPr>
          <a:xfrm>
            <a:off x="5193426" y="4014399"/>
            <a:ext cx="721919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93426" y="4014399"/>
            <a:ext cx="11593" cy="2514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68625" y="4014399"/>
            <a:ext cx="6380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66" kern="0" dirty="0">
                <a:solidFill>
                  <a:srgbClr val="EEF3F1">
                    <a:alpha val="3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&amp; A</a:t>
            </a:r>
            <a:endParaRPr lang="en-US" sz="14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电力输电线路智能巡检平台</dc:title>
  <dc:subject>Editable PPTX export</dc:subject>
  <dc:creator>Dashi PPT</dc:creator>
  <cp:lastModifiedBy>Dashi PPT</cp:lastModifiedBy>
  <cp:revision>1</cp:revision>
  <dcterms:created xsi:type="dcterms:W3CDTF">2026-08-03T08:55:25Z</dcterms:created>
  <dcterms:modified xsi:type="dcterms:W3CDTF">2026-08-03T08:55:25Z</dcterms:modified>
</cp:coreProperties>
</file>